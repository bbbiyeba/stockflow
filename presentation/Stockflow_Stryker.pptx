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Good morning. I'm Bryce Biyeba, a data science intern, and this is Stockflow: a tool that forecasts demand for every product at every branch and recommends moving stock between branches before anyone runs out.</a:t>
            </a:r>
          </a:p>
          <a:p/>
          <a:p>
            <a:r>
              <a:t>Why it matters for Stryker: when an implant or a piece of equipment isn't at the branch that needs it, a surgeon waits, and so does the patient. Our mission is to make healthcare better together with our customers, and having the right product at the right branch is a very concrete part of that.</a:t>
            </a:r>
          </a:p>
          <a:p/>
          <a:p>
            <a:r>
              <a:t>One thing to say up front, in the spirit of integrity: everything you'll see runs on synthetic data I generated to behave like a real distributor's ERP and warehouse extracts: 25 branches, 300 SKUs, three years of daily history, deliberately messy. The method is real; the dollar figures describe that simulated network, not Stryker.</a:t>
            </a:r>
          </a:p>
          <a:p/>
          <a:p>
            <a:r>
              <a:t>In the next eight minutes: the problem, how the system works, how accurate the forecasts are, what the rebalancing engine recommends, the business impact, what the dashboard looks like for a branch manager, and a proposal for a pilot.</a:t>
            </a:r>
          </a:p>
          <a:p/>
          <a:p>
            <a:r>
              <a:t>Likely question: "Why synthetic data?" Answer: I didn't have access to company data, so I built a generator that includes the problems real extracts have (outages, keying errors, stock-outs) so the cleaning and modeling had to handle them for real.</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problem in one picture. Across the network there's $13.4M of inventory on hand. $8.3M of it, 62%, sits above the level each branch actually needs. At the same time, 419 branch-and-product combinations are likely to run out before their next replenishment arrives.</a:t>
            </a:r>
          </a:p>
          <a:p/>
          <a:p>
            <a:r>
              <a:t>Over three years of history, 5.8% of all branch-product days were stock-out days, days when a customer could have asked for something the branch didn't have.</a:t>
            </a:r>
          </a:p>
          <a:p/>
          <a:p>
            <a:r>
              <a:t>The chart shows where the money is. The gold bar is the inventory at the positions facing stock-outs: only $186k. The shortage isn't a lack of inventory; it's inventory in the wrong place. A branch in one city has months of supply while another is about to stock out of the same item.</a:t>
            </a:r>
          </a:p>
          <a:p/>
          <a:p>
            <a:r>
              <a:t>And $3.7M hasn't sold in more than 90 days. Almost all of that, $3.7M, is product the whole network can't sell within a year, so that's a liquidation decision, not something transfers can fix. I call that out separately so we don't pretend the model solves it.</a:t>
            </a:r>
          </a:p>
          <a:p/>
          <a:p>
            <a:r>
              <a:t>Likely question: "How is 'above target' defined?" Answer: target is forecast demand over the lead time plus the review period, plus safety stock at a 95% service level. Anything above that is excess.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system on one line, left to right.</a:t>
            </a:r>
          </a:p>
          <a:p/>
          <a:p>
            <a:r>
              <a:t>It starts from the extracts any ERP and warehouse system already produces: daily sales, stock movements, open purchase orders, promotions and lane costs. The first step cleans and validates them: duplicates, returns, system outages, keying errors, and, importantly, days when a branch was out of stock, because sales on those days understate real demand.</a:t>
            </a:r>
          </a:p>
          <a:p/>
          <a:p>
            <a:r>
              <a:t>Then the forecast: a single machine-learning model, LightGBM, trained across all 4,889 branch-product combinations, alongside classic statistical models for slow movers. The best one is picked per segment. Every forecast comes with a range, not just a number.</a:t>
            </a:r>
          </a:p>
          <a:p/>
          <a:p>
            <a:r>
              <a:t>The inventory policy turns that range into safety stock, reorder points and a stock-out probability for every position.</a:t>
            </a:r>
          </a:p>
          <a:p/>
          <a:p>
            <a:r>
              <a:t>The optimizer then finds the cheapest set of transfers that covers shortfalls from branches with excess, respecting safety stock, storage capacity and transit time.</a:t>
            </a:r>
          </a:p>
          <a:p/>
          <a:p>
            <a:r>
              <a:t>Finally, the dashboard: and this last box in gold matters most. Nothing moves until a planner approves it. Every approval or rejection is logged with who, when and why. That's accountability built in.</a:t>
            </a:r>
          </a:p>
          <a:p/>
          <a:p>
            <a:r>
              <a:t>Likely question: "How long does a run take?" Answer: about five minutes for this network; I also tested a network ten times larger, which completes on a single 4-core machine.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keep the evaluation honest, I chose the models using three earlier months and then scored them on a fourth month that played no part in any decision. That's the month you see here.</a:t>
            </a:r>
          </a:p>
          <a:p/>
          <a:p>
            <a:r>
              <a:t>The chart is one real branch-product pair, B24 and S0057, a Tools item. I picked it by rule, not by eye: it's the A-class item whose error is closest to the A-class median. Grey is the month before, black is what actually sold, gold is the forecast, and the shaded band is the 10th-to-90th percentile range. Daily demand is noisy; the forecast tracks the weekly rhythm and the level.</a:t>
            </a:r>
          </a:p>
          <a:p/>
          <a:p>
            <a:r>
              <a:t>The table compares models on the held-out month. WAPE is total absolute error as a share of actual units. The seasonal-naive baseline, which just repeats last week, misses by 75%. The selected models miss by 50%, a 33% improvement, with bias under one percent. Over a full 28-day total, which is what drives safety stock, the error is 13%.</a:t>
            </a:r>
          </a:p>
          <a:p/>
          <a:p>
            <a:r>
              <a:t>The P10-to-P90 band contained 83% of actual days against an 80% target: slightly conservative, which I've documented.</a:t>
            </a:r>
          </a:p>
          <a:p/>
          <a:p>
            <a:r>
              <a:t>Likely question: "Why is daily error still around fifty percent?" Answer: many items sell a few units a day or less, so daily numbers are inherently noisy; that's why we plan on totals and ranges, not single days.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rebalancing engine's output. It weighs three costs at once: the freight to move a unit, the lost sale if a branch runs out, and the holding and obsolescence cost of excess left sitting. It also never pulls a sending branch below its own reorder point, never overfills a receiver, respects storage capacity, skips tiny moves, and only uses lanes of four transit days or less.</a:t>
            </a:r>
          </a:p>
          <a:p/>
          <a:p>
            <a:r>
              <a:t>The map shows the 20 busiest corridors, out of 259; they carry 45% of the units. Black dots are branches sending stock, gold dots are branches receiving it.</a:t>
            </a:r>
          </a:p>
          <a:p/>
          <a:p>
            <a:r>
              <a:t>The table is the five most valuable moves. Every one is "excess to shortfall": a branch with more than it needs sending to a branch about to run out. For example, the top move sends 208 units of S0190 from B10 to B17 for $1k in freight and saves about $4k.</a:t>
            </a:r>
          </a:p>
          <a:p/>
          <a:p>
            <a:r>
              <a:t>Overall: 895 transfers, $46k in freight, $216k net savings, compared with $206k from a simple rule of thumb that serves the most urgent shortages first.</a:t>
            </a:r>
          </a:p>
          <a:p/>
          <a:p>
            <a:r>
              <a:t>Likely question: "How stable is the plan?" Answer: I re-solved it with service level, freight cost, forecast error and forecast level each changed. 67% to 92% of the same moves survive, and net savings stay between $182k and $248k.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impact of executing the recommended plan, compared with doing nothing.</a:t>
            </a:r>
          </a:p>
          <a:p/>
          <a:p>
            <a:r>
              <a:t>The headline, in gold: $1.16M of excess inventory put back to work. Those units go where they'll sell instead of sitting on a shelf, which also means purchases the distribution center doesn't have to make.</a:t>
            </a:r>
          </a:p>
          <a:p/>
          <a:p>
            <a:r>
              <a:t>For patients this is the line that matters most: expected lost-sale units during the replenishment lead time drop from 10,533 to 1,585. That's 85% of the units that would otherwise have been missing when someone asked for them. Positions at stock-out risk fall from 419 to 76.</a:t>
            </a:r>
          </a:p>
          <a:p/>
          <a:p>
            <a:r>
              <a:t>The annual carrying cost of excess falls from $2.18M to $1.90M, and inventory turns improve from 8.5 to 9.0.</a:t>
            </a:r>
          </a:p>
          <a:p/>
          <a:p>
            <a:r>
              <a:t>Two honest caveats. First, these are model estimates on synthetic data, so the size of the numbers won't transfer, but the method will. Second, stagnant stock barely changes ($3.7M before, $3.7M after), because nobody else in the network wants it; that needs a liquidation decision.</a:t>
            </a:r>
          </a:p>
          <a:p/>
          <a:p>
            <a:r>
              <a:t>Likely question: "How are turns measured if transfers don't remove inventory?" Answer: on projected inventory after one replenishment cycle; units moved out of excess replace new purchases.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dashboard planners would actually use. It's built for branch and inventory teams, not data scientists: business language, every number in dollars, units or days.</a:t>
            </a:r>
          </a:p>
          <a:p/>
          <a:p>
            <a:r>
              <a:t>Callout one: the page opens with the decision, in a sentence: how many units to move, what it costs and what it saves.</a:t>
            </a:r>
          </a:p>
          <a:p/>
          <a:p>
            <a:r>
              <a:t>Callout two: the corridor map shows where stock is flowing, so a regional manager can sanity-check the plan at a glance.</a:t>
            </a:r>
          </a:p>
          <a:p/>
          <a:p>
            <a:r>
              <a:t>Callout three, on the right: every recommended transfer is a row. The planner sets Approve or Reject and can add a note. That decision is recorded in an audit log with their name, the time and which model run it came from. Each row also carries a plain-language reason, for example: "B17 is short of S0190: on-hand covers 1 days of demand and stock-out risk is 100% before replenishment arrives. B10 holds 190 days of supply, above it..."</a:t>
            </a:r>
          </a:p>
          <a:p/>
          <a:p>
            <a:r>
              <a:t>Other pages show inventory health by branch and category, a forecast explorer for any branch and product with the drivers explained in plain language, and an accuracy page that reports bias by branch so nobody is quietly short-changed.</a:t>
            </a:r>
          </a:p>
          <a:p/>
          <a:p>
            <a:r>
              <a:t>There's a live, view-only demo at stockflow-six-mu.vercel.app.</a:t>
            </a:r>
          </a:p>
          <a:p/>
          <a:p>
            <a:r>
              <a:t>Likely question: "Can it execute transfers in the ERP?" Answer: deliberately not. It recommends; people decide and then raise the transfer. That keeps accountability with the planner.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move from a demonstration to a decision, I'd propose a 12-week pilot.</a:t>
            </a:r>
          </a:p>
          <a:p/>
          <a:p>
            <a:r>
              <a:t>Weeks one to four: connect real data. The tool reads seven standard extracts (sales, stock movements, open orders, promotions, branch and product masters, lane costs), all documented in the repository with validation rules, so a bad file is rejected with a clear message instead of a wrong answer.</a:t>
            </a:r>
          </a:p>
          <a:p/>
          <a:p>
            <a:r>
              <a:t>Weeks five to ten: run it in shadow mode at two or three branches. Planners see the recommendations, approve or reject them, and we compare what the tool suggested with what actually happened. Rejections are valuable: they tell us where the cost assumptions are wrong.</a:t>
            </a:r>
          </a:p>
          <a:p/>
          <a:p>
            <a:r>
              <a:t>Weeks eleven and twelve: decide. Monitoring is already built: weekly checks of forecast error and bias against the baseline, data drift, and an alert that triggers retraining.</a:t>
            </a:r>
          </a:p>
          <a:p/>
          <a:p>
            <a:r>
              <a:t>The limitations, stated plainly: the data so far is synthetic; the plan looks one replenishment cycle ahead, not a multi-week schedule; safety stock assumes a normal error distribution; and the cost settings, like the price of a lost sale, need sign-off from finance before any dollar figure is trusted.</a:t>
            </a:r>
          </a:p>
          <a:p/>
          <a:p>
            <a:r>
              <a:t>To close where we started: getting the right product to the right branch is one concrete way we make healthcare better with our customers. Surgeons don't wait, so patients don't either. Thank you; I'm happy to take questions.</a:t>
            </a:r>
          </a:p>
          <a:p/>
          <a:p>
            <a:r>
              <a:t>Likely question: "What would you need from us?" Answer: read-only extracts for two or three branches, a planner willing to review recommendations weekly, and thirty minutes with finance on the cost settings.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417320"/>
            <a:ext cx="822960" cy="82296"/>
          </a:xfrm>
          <a:prstGeom prst="rect">
            <a:avLst/>
          </a:prstGeom>
          <a:solidFill>
            <a:srgbClr val="FFB502"/>
          </a:solidFill>
          <a:ln>
            <a:noFill/>
          </a:ln>
          <a:effectLst/>
        </p:spPr>
        <p:txBody>
          <a:bodyPr rtlCol="0" anchor="ctr"/>
          <a:lstStyle/>
          <a:p>
            <a:pPr algn="ctr"/>
          </a:p>
        </p:txBody>
      </p:sp>
      <p:sp>
        <p:nvSpPr>
          <p:cNvPr id="3" name="TextBox 2"/>
          <p:cNvSpPr txBox="1"/>
          <p:nvPr/>
        </p:nvSpPr>
        <p:spPr>
          <a:xfrm>
            <a:off x="548640" y="1691640"/>
            <a:ext cx="5852160" cy="1463040"/>
          </a:xfrm>
          <a:prstGeom prst="rect">
            <a:avLst/>
          </a:prstGeom>
          <a:noFill/>
        </p:spPr>
        <p:txBody>
          <a:bodyPr wrap="square" lIns="0" rIns="0" tIns="0" bIns="0" anchor="t">
            <a:spAutoFit/>
          </a:bodyPr>
          <a:lstStyle/>
          <a:p>
            <a:pPr algn="l">
              <a:lnSpc>
                <a:spcPct val="110000"/>
              </a:lnSpc>
            </a:pPr>
            <a:r>
              <a:rPr sz="4400" b="1">
                <a:solidFill>
                  <a:srgbClr val="000000"/>
                </a:solidFill>
                <a:latin typeface="Arial"/>
              </a:rPr>
              <a:t>Stockflow</a:t>
            </a:r>
          </a:p>
        </p:txBody>
      </p:sp>
      <p:sp>
        <p:nvSpPr>
          <p:cNvPr id="4" name="TextBox 3"/>
          <p:cNvSpPr txBox="1"/>
          <p:nvPr/>
        </p:nvSpPr>
        <p:spPr>
          <a:xfrm>
            <a:off x="548640" y="2514600"/>
            <a:ext cx="5669280" cy="914400"/>
          </a:xfrm>
          <a:prstGeom prst="rect">
            <a:avLst/>
          </a:prstGeom>
          <a:noFill/>
        </p:spPr>
        <p:txBody>
          <a:bodyPr wrap="square" lIns="0" rIns="0" tIns="0" bIns="0" anchor="t">
            <a:spAutoFit/>
          </a:bodyPr>
          <a:lstStyle/>
          <a:p>
            <a:pPr algn="l">
              <a:lnSpc>
                <a:spcPct val="110000"/>
              </a:lnSpc>
            </a:pPr>
            <a:r>
              <a:rPr sz="2200" b="0">
                <a:solidFill>
                  <a:srgbClr val="333333"/>
                </a:solidFill>
                <a:latin typeface="Arial"/>
              </a:rPr>
              <a:t>Branch-level demand forecasting and inventory rebalancing</a:t>
            </a:r>
          </a:p>
        </p:txBody>
      </p:sp>
      <p:sp>
        <p:nvSpPr>
          <p:cNvPr id="5" name="TextBox 4"/>
          <p:cNvSpPr txBox="1"/>
          <p:nvPr/>
        </p:nvSpPr>
        <p:spPr>
          <a:xfrm>
            <a:off x="548640" y="3657600"/>
            <a:ext cx="5486400" cy="914400"/>
          </a:xfrm>
          <a:prstGeom prst="rect">
            <a:avLst/>
          </a:prstGeom>
          <a:noFill/>
        </p:spPr>
        <p:txBody>
          <a:bodyPr wrap="square" lIns="0" rIns="0" tIns="0" bIns="0" anchor="t">
            <a:spAutoFit/>
          </a:bodyPr>
          <a:lstStyle/>
          <a:p>
            <a:pPr algn="l">
              <a:lnSpc>
                <a:spcPct val="110000"/>
              </a:lnSpc>
            </a:pPr>
            <a:r>
              <a:rPr sz="1600" b="0">
                <a:solidFill>
                  <a:srgbClr val="333333"/>
                </a:solidFill>
                <a:latin typeface="Arial"/>
              </a:rPr>
              <a:t>Right product at the right branch, so surgeons, hospitals and their patients are not left waiting.</a:t>
            </a:r>
          </a:p>
        </p:txBody>
      </p:sp>
      <p:sp>
        <p:nvSpPr>
          <p:cNvPr id="6" name="Rectangle 5"/>
          <p:cNvSpPr/>
          <p:nvPr/>
        </p:nvSpPr>
        <p:spPr>
          <a:xfrm>
            <a:off x="548640" y="4800600"/>
            <a:ext cx="5120640" cy="9525"/>
          </a:xfrm>
          <a:prstGeom prst="rect">
            <a:avLst/>
          </a:prstGeom>
          <a:solidFill>
            <a:srgbClr val="D9D9D9"/>
          </a:solidFill>
          <a:ln>
            <a:noFill/>
          </a:ln>
          <a:effectLst/>
        </p:spPr>
        <p:txBody>
          <a:bodyPr rtlCol="0" anchor="ctr"/>
          <a:lstStyle/>
          <a:p>
            <a:pPr algn="ctr"/>
          </a:p>
        </p:txBody>
      </p:sp>
      <p:sp>
        <p:nvSpPr>
          <p:cNvPr id="7" name="TextBox 6"/>
          <p:cNvSpPr txBox="1"/>
          <p:nvPr/>
        </p:nvSpPr>
        <p:spPr>
          <a:xfrm>
            <a:off x="548640" y="4983480"/>
            <a:ext cx="5486400" cy="914400"/>
          </a:xfrm>
          <a:prstGeom prst="rect">
            <a:avLst/>
          </a:prstGeom>
          <a:noFill/>
        </p:spPr>
        <p:txBody>
          <a:bodyPr wrap="square" lIns="0" rIns="0" tIns="0" bIns="0" anchor="t">
            <a:spAutoFit/>
          </a:bodyPr>
          <a:lstStyle/>
          <a:p>
            <a:pPr algn="l">
              <a:lnSpc>
                <a:spcPct val="110000"/>
              </a:lnSpc>
            </a:pPr>
            <a:r>
              <a:rPr sz="1500" b="1">
                <a:solidFill>
                  <a:srgbClr val="000000"/>
                </a:solidFill>
                <a:latin typeface="Arial"/>
              </a:rPr>
              <a:t>Bryce Biyeba</a:t>
            </a:r>
          </a:p>
          <a:p>
            <a:pPr algn="l">
              <a:lnSpc>
                <a:spcPct val="110000"/>
              </a:lnSpc>
            </a:pPr>
            <a:r>
              <a:rPr sz="1500" b="0">
                <a:solidFill>
                  <a:srgbClr val="333333"/>
                </a:solidFill>
                <a:latin typeface="Arial"/>
              </a:rPr>
              <a:t>Data Science Intern  ·  October 2026</a:t>
            </a:r>
          </a:p>
        </p:txBody>
      </p:sp>
      <p:pic>
        <p:nvPicPr>
          <p:cNvPr id="8" name="Picture 7" descr="branch_map.png"/>
          <p:cNvPicPr>
            <a:picLocks noChangeAspect="1"/>
          </p:cNvPicPr>
          <p:nvPr/>
        </p:nvPicPr>
        <p:blipFill>
          <a:blip r:embed="rId2"/>
          <a:stretch>
            <a:fillRect/>
          </a:stretch>
        </p:blipFill>
        <p:spPr>
          <a:xfrm>
            <a:off x="6400800" y="1600358"/>
            <a:ext cx="5303520" cy="3382964"/>
          </a:xfrm>
          <a:prstGeom prst="rect">
            <a:avLst/>
          </a:prstGeom>
        </p:spPr>
      </p:pic>
      <p:sp>
        <p:nvSpPr>
          <p:cNvPr id="9" name="TextBox 8"/>
          <p:cNvSpPr txBox="1"/>
          <p:nvPr/>
        </p:nvSpPr>
        <p:spPr>
          <a:xfrm>
            <a:off x="6400800" y="5349240"/>
            <a:ext cx="5303520" cy="365760"/>
          </a:xfrm>
          <a:prstGeom prst="rect">
            <a:avLst/>
          </a:prstGeom>
          <a:noFill/>
        </p:spPr>
        <p:txBody>
          <a:bodyPr wrap="square" lIns="0" rIns="0" tIns="0" bIns="0" anchor="t">
            <a:spAutoFit/>
          </a:bodyPr>
          <a:lstStyle/>
          <a:p>
            <a:pPr algn="ctr">
              <a:lnSpc>
                <a:spcPct val="110000"/>
              </a:lnSpc>
            </a:pPr>
            <a:r>
              <a:rPr sz="1200" b="0">
                <a:solidFill>
                  <a:srgbClr val="6E6E6E"/>
                </a:solidFill>
                <a:latin typeface="Arial"/>
              </a:rPr>
              <a:t>25 branches · 300 SKUs · 4,889 branch × SKU combinations</a:t>
            </a:r>
          </a:p>
        </p:txBody>
      </p:sp>
      <p:sp>
        <p:nvSpPr>
          <p:cNvPr id="10" name="Rectangle 9"/>
          <p:cNvSpPr/>
          <p:nvPr/>
        </p:nvSpPr>
        <p:spPr>
          <a:xfrm>
            <a:off x="548640" y="6291072"/>
            <a:ext cx="11094415" cy="9525"/>
          </a:xfrm>
          <a:prstGeom prst="rect">
            <a:avLst/>
          </a:prstGeom>
          <a:solidFill>
            <a:srgbClr val="D9D9D9"/>
          </a:solidFill>
          <a:ln>
            <a:noFill/>
          </a:ln>
          <a:effectLst/>
        </p:spPr>
        <p:txBody>
          <a:bodyPr rtlCol="0" anchor="ctr"/>
          <a:lstStyle/>
          <a:p>
            <a:pPr algn="ctr"/>
          </a:p>
        </p:txBody>
      </p:sp>
      <p:sp>
        <p:nvSpPr>
          <p:cNvPr id="11" name="TextBox 10"/>
          <p:cNvSpPr txBox="1"/>
          <p:nvPr/>
        </p:nvSpPr>
        <p:spPr>
          <a:xfrm>
            <a:off x="548640" y="6400800"/>
            <a:ext cx="5486400" cy="274320"/>
          </a:xfrm>
          <a:prstGeom prst="rect">
            <a:avLst/>
          </a:prstGeom>
          <a:noFill/>
        </p:spPr>
        <p:txBody>
          <a:bodyPr wrap="square" lIns="0" rIns="0" tIns="0" bIns="0" anchor="t">
            <a:spAutoFit/>
          </a:bodyPr>
          <a:lstStyle/>
          <a:p>
            <a:pPr algn="l">
              <a:lnSpc>
                <a:spcPct val="110000"/>
              </a:lnSpc>
            </a:pPr>
            <a:r>
              <a:rPr sz="1000" b="0">
                <a:solidFill>
                  <a:srgbClr val="6E6E6E"/>
                </a:solidFill>
                <a:latin typeface="Arial"/>
              </a:rPr>
              <a:t>Synthetic data – for demonstration</a:t>
            </a:r>
          </a:p>
        </p:txBody>
      </p:sp>
      <p:sp>
        <p:nvSpPr>
          <p:cNvPr id="12" name="TextBox 11"/>
          <p:cNvSpPr txBox="1"/>
          <p:nvPr/>
        </p:nvSpPr>
        <p:spPr>
          <a:xfrm>
            <a:off x="10728655" y="6400800"/>
            <a:ext cx="914400" cy="274320"/>
          </a:xfrm>
          <a:prstGeom prst="rect">
            <a:avLst/>
          </a:prstGeom>
          <a:noFill/>
        </p:spPr>
        <p:txBody>
          <a:bodyPr wrap="square" lIns="0" rIns="0" tIns="0" bIns="0" anchor="t">
            <a:spAutoFit/>
          </a:bodyPr>
          <a:lstStyle/>
          <a:p>
            <a:pPr algn="r">
              <a:lnSpc>
                <a:spcPct val="110000"/>
              </a:lnSpc>
            </a:pPr>
            <a:r>
              <a:rPr sz="1000" b="0">
                <a:solidFill>
                  <a:srgbClr val="6E6E6E"/>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822960" cy="82296"/>
          </a:xfrm>
          <a:prstGeom prst="rect">
            <a:avLst/>
          </a:prstGeom>
          <a:solidFill>
            <a:srgbClr val="FFB502"/>
          </a:solidFill>
          <a:ln>
            <a:noFill/>
          </a:ln>
          <a:effectLst/>
        </p:spPr>
        <p:txBody>
          <a:bodyPr rtlCol="0" anchor="ctr"/>
          <a:lstStyle/>
          <a:p>
            <a:pPr algn="ctr"/>
          </a:p>
        </p:txBody>
      </p:sp>
      <p:sp>
        <p:nvSpPr>
          <p:cNvPr id="3" name="TextBox 2"/>
          <p:cNvSpPr txBox="1"/>
          <p:nvPr/>
        </p:nvSpPr>
        <p:spPr>
          <a:xfrm>
            <a:off x="548640" y="566928"/>
            <a:ext cx="11094415" cy="914400"/>
          </a:xfrm>
          <a:prstGeom prst="rect">
            <a:avLst/>
          </a:prstGeom>
          <a:noFill/>
        </p:spPr>
        <p:txBody>
          <a:bodyPr wrap="square" lIns="0" rIns="0" tIns="0" bIns="0" anchor="t">
            <a:spAutoFit/>
          </a:bodyPr>
          <a:lstStyle/>
          <a:p>
            <a:pPr algn="l">
              <a:lnSpc>
                <a:spcPct val="100000"/>
              </a:lnSpc>
            </a:pPr>
            <a:r>
              <a:rPr sz="2600" b="1">
                <a:solidFill>
                  <a:srgbClr val="000000"/>
                </a:solidFill>
                <a:latin typeface="Arial"/>
              </a:rPr>
              <a:t>62% of inventory dollars sit above target while 419 branch positions face stock-outs</a:t>
            </a:r>
          </a:p>
        </p:txBody>
      </p:sp>
      <p:sp>
        <p:nvSpPr>
          <p:cNvPr id="4" name="Rectangle 3"/>
          <p:cNvSpPr/>
          <p:nvPr/>
        </p:nvSpPr>
        <p:spPr>
          <a:xfrm>
            <a:off x="548640" y="6291072"/>
            <a:ext cx="11094415" cy="9525"/>
          </a:xfrm>
          <a:prstGeom prst="rect">
            <a:avLst/>
          </a:prstGeom>
          <a:solidFill>
            <a:srgbClr val="D9D9D9"/>
          </a:solidFill>
          <a:ln>
            <a:noFill/>
          </a:ln>
          <a:effectLst/>
        </p:spPr>
        <p:txBody>
          <a:bodyPr rtlCol="0" anchor="ctr"/>
          <a:lstStyle/>
          <a:p>
            <a:pPr algn="ct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0000"/>
              </a:lnSpc>
            </a:pPr>
            <a:r>
              <a:rPr sz="1000" b="0">
                <a:solidFill>
                  <a:srgbClr val="6E6E6E"/>
                </a:solidFill>
                <a:latin typeface="Arial"/>
              </a:rPr>
              <a:t>Synthetic data – for demonstration</a:t>
            </a:r>
          </a:p>
        </p:txBody>
      </p:sp>
      <p:sp>
        <p:nvSpPr>
          <p:cNvPr id="6" name="TextBox 5"/>
          <p:cNvSpPr txBox="1"/>
          <p:nvPr/>
        </p:nvSpPr>
        <p:spPr>
          <a:xfrm>
            <a:off x="10728655" y="6400800"/>
            <a:ext cx="914400" cy="274320"/>
          </a:xfrm>
          <a:prstGeom prst="rect">
            <a:avLst/>
          </a:prstGeom>
          <a:noFill/>
        </p:spPr>
        <p:txBody>
          <a:bodyPr wrap="square" lIns="0" rIns="0" tIns="0" bIns="0" anchor="t">
            <a:spAutoFit/>
          </a:bodyPr>
          <a:lstStyle/>
          <a:p>
            <a:pPr algn="r">
              <a:lnSpc>
                <a:spcPct val="110000"/>
              </a:lnSpc>
            </a:pPr>
            <a:r>
              <a:rPr sz="1000" b="0">
                <a:solidFill>
                  <a:srgbClr val="6E6E6E"/>
                </a:solidFill>
                <a:latin typeface="Arial"/>
              </a:rPr>
              <a:t>2</a:t>
            </a:r>
          </a:p>
        </p:txBody>
      </p:sp>
      <p:sp>
        <p:nvSpPr>
          <p:cNvPr id="7" name="Rectangle 6"/>
          <p:cNvSpPr/>
          <p:nvPr/>
        </p:nvSpPr>
        <p:spPr>
          <a:xfrm>
            <a:off x="548640" y="1764792"/>
            <a:ext cx="73152" cy="868680"/>
          </a:xfrm>
          <a:prstGeom prst="rect">
            <a:avLst/>
          </a:prstGeom>
          <a:solidFill>
            <a:srgbClr val="FFB502"/>
          </a:solidFill>
          <a:ln>
            <a:noFill/>
          </a:ln>
          <a:effectLst/>
        </p:spPr>
        <p:txBody>
          <a:bodyPr rtlCol="0" anchor="ctr"/>
          <a:lstStyle/>
          <a:p>
            <a:pPr algn="ctr"/>
          </a:p>
        </p:txBody>
      </p:sp>
      <p:sp>
        <p:nvSpPr>
          <p:cNvPr id="8" name="TextBox 7"/>
          <p:cNvSpPr txBox="1"/>
          <p:nvPr/>
        </p:nvSpPr>
        <p:spPr>
          <a:xfrm>
            <a:off x="777240" y="1691640"/>
            <a:ext cx="3840480" cy="640080"/>
          </a:xfrm>
          <a:prstGeom prst="rect">
            <a:avLst/>
          </a:prstGeom>
          <a:noFill/>
        </p:spPr>
        <p:txBody>
          <a:bodyPr wrap="square" lIns="0" rIns="0" tIns="0" bIns="0" anchor="t">
            <a:spAutoFit/>
          </a:bodyPr>
          <a:lstStyle/>
          <a:p>
            <a:pPr algn="l">
              <a:lnSpc>
                <a:spcPct val="110000"/>
              </a:lnSpc>
            </a:pPr>
            <a:r>
              <a:rPr sz="3400" b="1">
                <a:solidFill>
                  <a:srgbClr val="000000"/>
                </a:solidFill>
                <a:latin typeface="Arial"/>
              </a:rPr>
              <a:t>5.8%</a:t>
            </a:r>
          </a:p>
        </p:txBody>
      </p:sp>
      <p:sp>
        <p:nvSpPr>
          <p:cNvPr id="9" name="TextBox 8"/>
          <p:cNvSpPr txBox="1"/>
          <p:nvPr/>
        </p:nvSpPr>
        <p:spPr>
          <a:xfrm>
            <a:off x="777240" y="2295144"/>
            <a:ext cx="3840480" cy="457200"/>
          </a:xfrm>
          <a:prstGeom prst="rect">
            <a:avLst/>
          </a:prstGeom>
          <a:noFill/>
        </p:spPr>
        <p:txBody>
          <a:bodyPr wrap="square" lIns="0" rIns="0" tIns="0" bIns="0" anchor="t">
            <a:spAutoFit/>
          </a:bodyPr>
          <a:lstStyle/>
          <a:p>
            <a:pPr algn="l">
              <a:lnSpc>
                <a:spcPct val="110000"/>
              </a:lnSpc>
            </a:pPr>
            <a:r>
              <a:rPr sz="1300" b="0">
                <a:solidFill>
                  <a:srgbClr val="333333"/>
                </a:solidFill>
                <a:latin typeface="Arial"/>
              </a:rPr>
              <a:t>of branch × SKU days were stock-out days (3 years)</a:t>
            </a:r>
          </a:p>
        </p:txBody>
      </p:sp>
      <p:sp>
        <p:nvSpPr>
          <p:cNvPr id="10" name="Rectangle 9"/>
          <p:cNvSpPr/>
          <p:nvPr/>
        </p:nvSpPr>
        <p:spPr>
          <a:xfrm>
            <a:off x="548640" y="3227832"/>
            <a:ext cx="73152" cy="868680"/>
          </a:xfrm>
          <a:prstGeom prst="rect">
            <a:avLst/>
          </a:prstGeom>
          <a:solidFill>
            <a:srgbClr val="FFB502"/>
          </a:solidFill>
          <a:ln>
            <a:noFill/>
          </a:ln>
          <a:effectLst/>
        </p:spPr>
        <p:txBody>
          <a:bodyPr rtlCol="0" anchor="ctr"/>
          <a:lstStyle/>
          <a:p>
            <a:pPr algn="ctr"/>
          </a:p>
        </p:txBody>
      </p:sp>
      <p:sp>
        <p:nvSpPr>
          <p:cNvPr id="11" name="TextBox 10"/>
          <p:cNvSpPr txBox="1"/>
          <p:nvPr/>
        </p:nvSpPr>
        <p:spPr>
          <a:xfrm>
            <a:off x="777240" y="3154680"/>
            <a:ext cx="3840480" cy="640080"/>
          </a:xfrm>
          <a:prstGeom prst="rect">
            <a:avLst/>
          </a:prstGeom>
          <a:noFill/>
        </p:spPr>
        <p:txBody>
          <a:bodyPr wrap="square" lIns="0" rIns="0" tIns="0" bIns="0" anchor="t">
            <a:spAutoFit/>
          </a:bodyPr>
          <a:lstStyle/>
          <a:p>
            <a:pPr algn="l">
              <a:lnSpc>
                <a:spcPct val="110000"/>
              </a:lnSpc>
            </a:pPr>
            <a:r>
              <a:rPr sz="3400" b="1">
                <a:solidFill>
                  <a:srgbClr val="000000"/>
                </a:solidFill>
                <a:latin typeface="Arial"/>
              </a:rPr>
              <a:t>$8.3M</a:t>
            </a:r>
          </a:p>
        </p:txBody>
      </p:sp>
      <p:sp>
        <p:nvSpPr>
          <p:cNvPr id="12" name="TextBox 11"/>
          <p:cNvSpPr txBox="1"/>
          <p:nvPr/>
        </p:nvSpPr>
        <p:spPr>
          <a:xfrm>
            <a:off x="777240" y="3758184"/>
            <a:ext cx="3840480" cy="457200"/>
          </a:xfrm>
          <a:prstGeom prst="rect">
            <a:avLst/>
          </a:prstGeom>
          <a:noFill/>
        </p:spPr>
        <p:txBody>
          <a:bodyPr wrap="square" lIns="0" rIns="0" tIns="0" bIns="0" anchor="t">
            <a:spAutoFit/>
          </a:bodyPr>
          <a:lstStyle/>
          <a:p>
            <a:pPr algn="l">
              <a:lnSpc>
                <a:spcPct val="110000"/>
              </a:lnSpc>
            </a:pPr>
            <a:r>
              <a:rPr sz="1300" b="0">
                <a:solidFill>
                  <a:srgbClr val="333333"/>
                </a:solidFill>
                <a:latin typeface="Arial"/>
              </a:rPr>
              <a:t>above target, of $13.4M on hand</a:t>
            </a:r>
          </a:p>
        </p:txBody>
      </p:sp>
      <p:sp>
        <p:nvSpPr>
          <p:cNvPr id="13" name="Rectangle 12"/>
          <p:cNvSpPr/>
          <p:nvPr/>
        </p:nvSpPr>
        <p:spPr>
          <a:xfrm>
            <a:off x="548640" y="4690872"/>
            <a:ext cx="73152" cy="868680"/>
          </a:xfrm>
          <a:prstGeom prst="rect">
            <a:avLst/>
          </a:prstGeom>
          <a:solidFill>
            <a:srgbClr val="FFB502"/>
          </a:solidFill>
          <a:ln>
            <a:noFill/>
          </a:ln>
          <a:effectLst/>
        </p:spPr>
        <p:txBody>
          <a:bodyPr rtlCol="0" anchor="ctr"/>
          <a:lstStyle/>
          <a:p>
            <a:pPr algn="ctr"/>
          </a:p>
        </p:txBody>
      </p:sp>
      <p:sp>
        <p:nvSpPr>
          <p:cNvPr id="14" name="TextBox 13"/>
          <p:cNvSpPr txBox="1"/>
          <p:nvPr/>
        </p:nvSpPr>
        <p:spPr>
          <a:xfrm>
            <a:off x="777240" y="4617720"/>
            <a:ext cx="3840480" cy="640080"/>
          </a:xfrm>
          <a:prstGeom prst="rect">
            <a:avLst/>
          </a:prstGeom>
          <a:noFill/>
        </p:spPr>
        <p:txBody>
          <a:bodyPr wrap="square" lIns="0" rIns="0" tIns="0" bIns="0" anchor="t">
            <a:spAutoFit/>
          </a:bodyPr>
          <a:lstStyle/>
          <a:p>
            <a:pPr algn="l">
              <a:lnSpc>
                <a:spcPct val="110000"/>
              </a:lnSpc>
            </a:pPr>
            <a:r>
              <a:rPr sz="3400" b="1">
                <a:solidFill>
                  <a:srgbClr val="000000"/>
                </a:solidFill>
                <a:latin typeface="Arial"/>
              </a:rPr>
              <a:t>$3.7M</a:t>
            </a:r>
          </a:p>
        </p:txBody>
      </p:sp>
      <p:sp>
        <p:nvSpPr>
          <p:cNvPr id="15" name="TextBox 14"/>
          <p:cNvSpPr txBox="1"/>
          <p:nvPr/>
        </p:nvSpPr>
        <p:spPr>
          <a:xfrm>
            <a:off x="777240" y="5221224"/>
            <a:ext cx="3840480" cy="457200"/>
          </a:xfrm>
          <a:prstGeom prst="rect">
            <a:avLst/>
          </a:prstGeom>
          <a:noFill/>
        </p:spPr>
        <p:txBody>
          <a:bodyPr wrap="square" lIns="0" rIns="0" tIns="0" bIns="0" anchor="t">
            <a:spAutoFit/>
          </a:bodyPr>
          <a:lstStyle/>
          <a:p>
            <a:pPr algn="l">
              <a:lnSpc>
                <a:spcPct val="110000"/>
              </a:lnSpc>
            </a:pPr>
            <a:r>
              <a:rPr sz="1300" b="0">
                <a:solidFill>
                  <a:srgbClr val="333333"/>
                </a:solidFill>
                <a:latin typeface="Arial"/>
              </a:rPr>
              <a:t>stagnant: no sale in 90+ days</a:t>
            </a:r>
          </a:p>
        </p:txBody>
      </p:sp>
      <p:pic>
        <p:nvPicPr>
          <p:cNvPr id="16" name="Picture 15" descr="problem.png"/>
          <p:cNvPicPr>
            <a:picLocks noChangeAspect="1"/>
          </p:cNvPicPr>
          <p:nvPr/>
        </p:nvPicPr>
        <p:blipFill>
          <a:blip r:embed="rId3"/>
          <a:stretch>
            <a:fillRect/>
          </a:stretch>
        </p:blipFill>
        <p:spPr>
          <a:xfrm>
            <a:off x="4937760" y="2061170"/>
            <a:ext cx="6702551" cy="3284300"/>
          </a:xfrm>
          <a:prstGeom prst="rect">
            <a:avLst/>
          </a:prstGeom>
        </p:spPr>
      </p:pic>
      <p:sp>
        <p:nvSpPr>
          <p:cNvPr id="17" name="TextBox 16"/>
          <p:cNvSpPr txBox="1"/>
          <p:nvPr/>
        </p:nvSpPr>
        <p:spPr>
          <a:xfrm>
            <a:off x="4937760" y="5897880"/>
            <a:ext cx="6702552" cy="320040"/>
          </a:xfrm>
          <a:prstGeom prst="rect">
            <a:avLst/>
          </a:prstGeom>
          <a:noFill/>
        </p:spPr>
        <p:txBody>
          <a:bodyPr wrap="square" lIns="0" rIns="0" tIns="0" bIns="0" anchor="t">
            <a:spAutoFit/>
          </a:bodyPr>
          <a:lstStyle/>
          <a:p>
            <a:pPr algn="ctr">
              <a:lnSpc>
                <a:spcPct val="110000"/>
              </a:lnSpc>
            </a:pPr>
            <a:r>
              <a:rPr sz="1100" b="0">
                <a:solidFill>
                  <a:srgbClr val="6E6E6E"/>
                </a:solidFill>
                <a:latin typeface="Arial"/>
              </a:rPr>
              <a:t>Inventory on hand by position status, at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822960" cy="82296"/>
          </a:xfrm>
          <a:prstGeom prst="rect">
            <a:avLst/>
          </a:prstGeom>
          <a:solidFill>
            <a:srgbClr val="FFB502"/>
          </a:solidFill>
          <a:ln>
            <a:noFill/>
          </a:ln>
          <a:effectLst/>
        </p:spPr>
        <p:txBody>
          <a:bodyPr rtlCol="0" anchor="ctr"/>
          <a:lstStyle/>
          <a:p>
            <a:pPr algn="ctr"/>
          </a:p>
        </p:txBody>
      </p:sp>
      <p:sp>
        <p:nvSpPr>
          <p:cNvPr id="3" name="TextBox 2"/>
          <p:cNvSpPr txBox="1"/>
          <p:nvPr/>
        </p:nvSpPr>
        <p:spPr>
          <a:xfrm>
            <a:off x="548640" y="566928"/>
            <a:ext cx="11094415" cy="914400"/>
          </a:xfrm>
          <a:prstGeom prst="rect">
            <a:avLst/>
          </a:prstGeom>
          <a:noFill/>
        </p:spPr>
        <p:txBody>
          <a:bodyPr wrap="square" lIns="0" rIns="0" tIns="0" bIns="0" anchor="t">
            <a:spAutoFit/>
          </a:bodyPr>
          <a:lstStyle/>
          <a:p>
            <a:pPr algn="l">
              <a:lnSpc>
                <a:spcPct val="100000"/>
              </a:lnSpc>
            </a:pPr>
            <a:r>
              <a:rPr sz="2600" b="1">
                <a:solidFill>
                  <a:srgbClr val="000000"/>
                </a:solidFill>
                <a:latin typeface="Arial"/>
              </a:rPr>
              <a:t>One pipeline turns three years of branch data into transfers a planner approves</a:t>
            </a:r>
          </a:p>
        </p:txBody>
      </p:sp>
      <p:sp>
        <p:nvSpPr>
          <p:cNvPr id="4" name="Rectangle 3"/>
          <p:cNvSpPr/>
          <p:nvPr/>
        </p:nvSpPr>
        <p:spPr>
          <a:xfrm>
            <a:off x="548640" y="6291072"/>
            <a:ext cx="11094415" cy="9525"/>
          </a:xfrm>
          <a:prstGeom prst="rect">
            <a:avLst/>
          </a:prstGeom>
          <a:solidFill>
            <a:srgbClr val="D9D9D9"/>
          </a:solidFill>
          <a:ln>
            <a:noFill/>
          </a:ln>
          <a:effectLst/>
        </p:spPr>
        <p:txBody>
          <a:bodyPr rtlCol="0" anchor="ctr"/>
          <a:lstStyle/>
          <a:p>
            <a:pPr algn="ct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0000"/>
              </a:lnSpc>
            </a:pPr>
            <a:r>
              <a:rPr sz="1000" b="0">
                <a:solidFill>
                  <a:srgbClr val="6E6E6E"/>
                </a:solidFill>
                <a:latin typeface="Arial"/>
              </a:rPr>
              <a:t>Synthetic data – for demonstration</a:t>
            </a:r>
          </a:p>
        </p:txBody>
      </p:sp>
      <p:sp>
        <p:nvSpPr>
          <p:cNvPr id="6" name="TextBox 5"/>
          <p:cNvSpPr txBox="1"/>
          <p:nvPr/>
        </p:nvSpPr>
        <p:spPr>
          <a:xfrm>
            <a:off x="10728655" y="6400800"/>
            <a:ext cx="914400" cy="274320"/>
          </a:xfrm>
          <a:prstGeom prst="rect">
            <a:avLst/>
          </a:prstGeom>
          <a:noFill/>
        </p:spPr>
        <p:txBody>
          <a:bodyPr wrap="square" lIns="0" rIns="0" tIns="0" bIns="0" anchor="t">
            <a:spAutoFit/>
          </a:bodyPr>
          <a:lstStyle/>
          <a:p>
            <a:pPr algn="r">
              <a:lnSpc>
                <a:spcPct val="110000"/>
              </a:lnSpc>
            </a:pPr>
            <a:r>
              <a:rPr sz="1000" b="0">
                <a:solidFill>
                  <a:srgbClr val="6E6E6E"/>
                </a:solidFill>
                <a:latin typeface="Arial"/>
              </a:rPr>
              <a:t>3</a:t>
            </a:r>
          </a:p>
        </p:txBody>
      </p:sp>
      <p:sp>
        <p:nvSpPr>
          <p:cNvPr id="7" name="Rectangle 6"/>
          <p:cNvSpPr/>
          <p:nvPr/>
        </p:nvSpPr>
        <p:spPr>
          <a:xfrm>
            <a:off x="548640" y="2331720"/>
            <a:ext cx="1334109" cy="1143000"/>
          </a:xfrm>
          <a:prstGeom prst="rect">
            <a:avLst/>
          </a:prstGeom>
          <a:solidFill>
            <a:srgbClr val="FFFFFF"/>
          </a:solidFill>
          <a:ln w="12700">
            <a:solidFill>
              <a:srgbClr val="333333"/>
            </a:solidFill>
          </a:ln>
          <a:effectLst/>
        </p:spPr>
        <p:txBody>
          <a:bodyPr rtlCol="0" anchor="ctr" lIns="54864" rIns="54864" wrap="square"/>
          <a:lstStyle/>
          <a:p>
            <a:pPr algn="ctr"/>
            <a:r>
              <a:rPr sz="1400" b="1">
                <a:solidFill>
                  <a:srgbClr val="000000"/>
                </a:solidFill>
                <a:latin typeface="Arial"/>
              </a:rPr>
              <a:t>ERP / WMS</a:t>
            </a:r>
          </a:p>
          <a:p>
            <a:pPr algn="ctr"/>
            <a:r>
              <a:rPr sz="1400" b="1">
                <a:solidFill>
                  <a:srgbClr val="000000"/>
                </a:solidFill>
                <a:latin typeface="Arial"/>
              </a:rPr>
              <a:t>extracts</a:t>
            </a:r>
          </a:p>
        </p:txBody>
      </p:sp>
      <p:sp>
        <p:nvSpPr>
          <p:cNvPr id="8" name="TextBox 7"/>
          <p:cNvSpPr txBox="1"/>
          <p:nvPr/>
        </p:nvSpPr>
        <p:spPr>
          <a:xfrm>
            <a:off x="502920" y="3639312"/>
            <a:ext cx="1425549" cy="731520"/>
          </a:xfrm>
          <a:prstGeom prst="rect">
            <a:avLst/>
          </a:prstGeom>
          <a:noFill/>
        </p:spPr>
        <p:txBody>
          <a:bodyPr wrap="square" lIns="0" rIns="0" tIns="0" bIns="0" anchor="t">
            <a:spAutoFit/>
          </a:bodyPr>
          <a:lstStyle/>
          <a:p>
            <a:pPr algn="ctr">
              <a:lnSpc>
                <a:spcPct val="110000"/>
              </a:lnSpc>
            </a:pPr>
            <a:r>
              <a:rPr sz="1100" b="0">
                <a:solidFill>
                  <a:srgbClr val="6E6E6E"/>
                </a:solidFill>
                <a:latin typeface="Arial"/>
              </a:rPr>
              <a:t>sales, stock moves,</a:t>
            </a:r>
          </a:p>
          <a:p>
            <a:pPr algn="ctr">
              <a:lnSpc>
                <a:spcPct val="110000"/>
              </a:lnSpc>
            </a:pPr>
            <a:r>
              <a:rPr sz="1100" b="0">
                <a:solidFill>
                  <a:srgbClr val="6E6E6E"/>
                </a:solidFill>
                <a:latin typeface="Arial"/>
              </a:rPr>
              <a:t>POs, promotions</a:t>
            </a:r>
          </a:p>
        </p:txBody>
      </p:sp>
      <p:cxnSp>
        <p:nvCxnSpPr>
          <p:cNvPr id="9" name="Connector 8"/>
          <p:cNvCxnSpPr/>
          <p:nvPr/>
        </p:nvCxnSpPr>
        <p:spPr>
          <a:xfrm>
            <a:off x="1910181" y="2903220"/>
            <a:ext cx="237744" cy="0"/>
          </a:xfrm>
          <a:prstGeom prst="line">
            <a:avLst/>
          </a:prstGeom>
          <a:ln w="19050">
            <a:solidFill>
              <a:srgbClr val="333333"/>
            </a:solidFill>
            <a:tailEnd type="triangle" w="med" len="med"/>
          </a:ln>
        </p:spPr>
      </p:cxnSp>
      <p:sp>
        <p:nvSpPr>
          <p:cNvPr id="10" name="Rectangle 9"/>
          <p:cNvSpPr/>
          <p:nvPr/>
        </p:nvSpPr>
        <p:spPr>
          <a:xfrm>
            <a:off x="2175357" y="2331720"/>
            <a:ext cx="1334109" cy="1143000"/>
          </a:xfrm>
          <a:prstGeom prst="rect">
            <a:avLst/>
          </a:prstGeom>
          <a:solidFill>
            <a:srgbClr val="FFFFFF"/>
          </a:solidFill>
          <a:ln w="12700">
            <a:solidFill>
              <a:srgbClr val="333333"/>
            </a:solidFill>
          </a:ln>
          <a:effectLst/>
        </p:spPr>
        <p:txBody>
          <a:bodyPr rtlCol="0" anchor="ctr" lIns="54864" rIns="54864" wrap="square"/>
          <a:lstStyle/>
          <a:p>
            <a:pPr algn="ctr"/>
            <a:r>
              <a:rPr sz="1400" b="1">
                <a:solidFill>
                  <a:srgbClr val="000000"/>
                </a:solidFill>
                <a:latin typeface="Arial"/>
              </a:rPr>
              <a:t>Clean &amp;</a:t>
            </a:r>
          </a:p>
          <a:p>
            <a:pPr algn="ctr"/>
            <a:r>
              <a:rPr sz="1400" b="1">
                <a:solidFill>
                  <a:srgbClr val="000000"/>
                </a:solidFill>
                <a:latin typeface="Arial"/>
              </a:rPr>
              <a:t>validate</a:t>
            </a:r>
          </a:p>
        </p:txBody>
      </p:sp>
      <p:sp>
        <p:nvSpPr>
          <p:cNvPr id="11" name="TextBox 10"/>
          <p:cNvSpPr txBox="1"/>
          <p:nvPr/>
        </p:nvSpPr>
        <p:spPr>
          <a:xfrm>
            <a:off x="2129637" y="3639312"/>
            <a:ext cx="1425549" cy="731520"/>
          </a:xfrm>
          <a:prstGeom prst="rect">
            <a:avLst/>
          </a:prstGeom>
          <a:noFill/>
        </p:spPr>
        <p:txBody>
          <a:bodyPr wrap="square" lIns="0" rIns="0" tIns="0" bIns="0" anchor="t">
            <a:spAutoFit/>
          </a:bodyPr>
          <a:lstStyle/>
          <a:p>
            <a:pPr algn="ctr">
              <a:lnSpc>
                <a:spcPct val="110000"/>
              </a:lnSpc>
            </a:pPr>
            <a:r>
              <a:rPr sz="1100" b="0">
                <a:solidFill>
                  <a:srgbClr val="6E6E6E"/>
                </a:solidFill>
                <a:latin typeface="Arial"/>
              </a:rPr>
              <a:t>outages, returns,</a:t>
            </a:r>
          </a:p>
          <a:p>
            <a:pPr algn="ctr">
              <a:lnSpc>
                <a:spcPct val="110000"/>
              </a:lnSpc>
            </a:pPr>
            <a:r>
              <a:rPr sz="1100" b="0">
                <a:solidFill>
                  <a:srgbClr val="6E6E6E"/>
                </a:solidFill>
                <a:latin typeface="Arial"/>
              </a:rPr>
              <a:t>stock-out days</a:t>
            </a:r>
          </a:p>
        </p:txBody>
      </p:sp>
      <p:cxnSp>
        <p:nvCxnSpPr>
          <p:cNvPr id="12" name="Connector 11"/>
          <p:cNvCxnSpPr/>
          <p:nvPr/>
        </p:nvCxnSpPr>
        <p:spPr>
          <a:xfrm>
            <a:off x="3536898" y="2903220"/>
            <a:ext cx="237744" cy="0"/>
          </a:xfrm>
          <a:prstGeom prst="line">
            <a:avLst/>
          </a:prstGeom>
          <a:ln w="19050">
            <a:solidFill>
              <a:srgbClr val="333333"/>
            </a:solidFill>
            <a:tailEnd type="triangle" w="med" len="med"/>
          </a:ln>
        </p:spPr>
      </p:cxnSp>
      <p:sp>
        <p:nvSpPr>
          <p:cNvPr id="13" name="Rectangle 12"/>
          <p:cNvSpPr/>
          <p:nvPr/>
        </p:nvSpPr>
        <p:spPr>
          <a:xfrm>
            <a:off x="3802074" y="2331720"/>
            <a:ext cx="1334109" cy="1143000"/>
          </a:xfrm>
          <a:prstGeom prst="rect">
            <a:avLst/>
          </a:prstGeom>
          <a:solidFill>
            <a:srgbClr val="FFFFFF"/>
          </a:solidFill>
          <a:ln w="12700">
            <a:solidFill>
              <a:srgbClr val="333333"/>
            </a:solidFill>
          </a:ln>
          <a:effectLst/>
        </p:spPr>
        <p:txBody>
          <a:bodyPr rtlCol="0" anchor="ctr" lIns="54864" rIns="54864" wrap="square"/>
          <a:lstStyle/>
          <a:p>
            <a:pPr algn="ctr"/>
            <a:r>
              <a:rPr sz="1400" b="1">
                <a:solidFill>
                  <a:srgbClr val="000000"/>
                </a:solidFill>
                <a:latin typeface="Arial"/>
              </a:rPr>
              <a:t>Forecast</a:t>
            </a:r>
          </a:p>
        </p:txBody>
      </p:sp>
      <p:sp>
        <p:nvSpPr>
          <p:cNvPr id="14" name="TextBox 13"/>
          <p:cNvSpPr txBox="1"/>
          <p:nvPr/>
        </p:nvSpPr>
        <p:spPr>
          <a:xfrm>
            <a:off x="3756354" y="3639312"/>
            <a:ext cx="1425549" cy="731520"/>
          </a:xfrm>
          <a:prstGeom prst="rect">
            <a:avLst/>
          </a:prstGeom>
          <a:noFill/>
        </p:spPr>
        <p:txBody>
          <a:bodyPr wrap="square" lIns="0" rIns="0" tIns="0" bIns="0" anchor="t">
            <a:spAutoFit/>
          </a:bodyPr>
          <a:lstStyle/>
          <a:p>
            <a:pPr algn="ctr">
              <a:lnSpc>
                <a:spcPct val="110000"/>
              </a:lnSpc>
            </a:pPr>
            <a:r>
              <a:rPr sz="1100" b="0">
                <a:solidFill>
                  <a:srgbClr val="6E6E6E"/>
                </a:solidFill>
                <a:latin typeface="Arial"/>
              </a:rPr>
              <a:t>LightGBM + statistical,</a:t>
            </a:r>
          </a:p>
          <a:p>
            <a:pPr algn="ctr">
              <a:lnSpc>
                <a:spcPct val="110000"/>
              </a:lnSpc>
            </a:pPr>
            <a:r>
              <a:rPr sz="1100" b="0">
                <a:solidFill>
                  <a:srgbClr val="6E6E6E"/>
                </a:solidFill>
                <a:latin typeface="Arial"/>
              </a:rPr>
              <a:t>P10 / P50 / P90</a:t>
            </a:r>
          </a:p>
        </p:txBody>
      </p:sp>
      <p:cxnSp>
        <p:nvCxnSpPr>
          <p:cNvPr id="15" name="Connector 14"/>
          <p:cNvCxnSpPr/>
          <p:nvPr/>
        </p:nvCxnSpPr>
        <p:spPr>
          <a:xfrm>
            <a:off x="5163615" y="2903220"/>
            <a:ext cx="237744" cy="0"/>
          </a:xfrm>
          <a:prstGeom prst="line">
            <a:avLst/>
          </a:prstGeom>
          <a:ln w="19050">
            <a:solidFill>
              <a:srgbClr val="333333"/>
            </a:solidFill>
            <a:tailEnd type="triangle" w="med" len="med"/>
          </a:ln>
        </p:spPr>
      </p:cxnSp>
      <p:sp>
        <p:nvSpPr>
          <p:cNvPr id="16" name="Rectangle 15"/>
          <p:cNvSpPr/>
          <p:nvPr/>
        </p:nvSpPr>
        <p:spPr>
          <a:xfrm>
            <a:off x="5428791" y="2331720"/>
            <a:ext cx="1334109" cy="1143000"/>
          </a:xfrm>
          <a:prstGeom prst="rect">
            <a:avLst/>
          </a:prstGeom>
          <a:solidFill>
            <a:srgbClr val="FFFFFF"/>
          </a:solidFill>
          <a:ln w="12700">
            <a:solidFill>
              <a:srgbClr val="333333"/>
            </a:solidFill>
          </a:ln>
          <a:effectLst/>
        </p:spPr>
        <p:txBody>
          <a:bodyPr rtlCol="0" anchor="ctr" lIns="54864" rIns="54864" wrap="square"/>
          <a:lstStyle/>
          <a:p>
            <a:pPr algn="ctr"/>
            <a:r>
              <a:rPr sz="1400" b="1">
                <a:solidFill>
                  <a:srgbClr val="000000"/>
                </a:solidFill>
                <a:latin typeface="Arial"/>
              </a:rPr>
              <a:t>Inventory</a:t>
            </a:r>
          </a:p>
          <a:p>
            <a:pPr algn="ctr"/>
            <a:r>
              <a:rPr sz="1400" b="1">
                <a:solidFill>
                  <a:srgbClr val="000000"/>
                </a:solidFill>
                <a:latin typeface="Arial"/>
              </a:rPr>
              <a:t>policy</a:t>
            </a:r>
          </a:p>
        </p:txBody>
      </p:sp>
      <p:sp>
        <p:nvSpPr>
          <p:cNvPr id="17" name="TextBox 16"/>
          <p:cNvSpPr txBox="1"/>
          <p:nvPr/>
        </p:nvSpPr>
        <p:spPr>
          <a:xfrm>
            <a:off x="5383071" y="3639312"/>
            <a:ext cx="1425549" cy="731520"/>
          </a:xfrm>
          <a:prstGeom prst="rect">
            <a:avLst/>
          </a:prstGeom>
          <a:noFill/>
        </p:spPr>
        <p:txBody>
          <a:bodyPr wrap="square" lIns="0" rIns="0" tIns="0" bIns="0" anchor="t">
            <a:spAutoFit/>
          </a:bodyPr>
          <a:lstStyle/>
          <a:p>
            <a:pPr algn="ctr">
              <a:lnSpc>
                <a:spcPct val="110000"/>
              </a:lnSpc>
            </a:pPr>
            <a:r>
              <a:rPr sz="1100" b="0">
                <a:solidFill>
                  <a:srgbClr val="6E6E6E"/>
                </a:solidFill>
                <a:latin typeface="Arial"/>
              </a:rPr>
              <a:t>safety stock,</a:t>
            </a:r>
          </a:p>
          <a:p>
            <a:pPr algn="ctr">
              <a:lnSpc>
                <a:spcPct val="110000"/>
              </a:lnSpc>
            </a:pPr>
            <a:r>
              <a:rPr sz="1100" b="0">
                <a:solidFill>
                  <a:srgbClr val="6E6E6E"/>
                </a:solidFill>
                <a:latin typeface="Arial"/>
              </a:rPr>
              <a:t>reorder point, risk</a:t>
            </a:r>
          </a:p>
        </p:txBody>
      </p:sp>
      <p:cxnSp>
        <p:nvCxnSpPr>
          <p:cNvPr id="18" name="Connector 17"/>
          <p:cNvCxnSpPr/>
          <p:nvPr/>
        </p:nvCxnSpPr>
        <p:spPr>
          <a:xfrm>
            <a:off x="6790332" y="2903220"/>
            <a:ext cx="237744" cy="0"/>
          </a:xfrm>
          <a:prstGeom prst="line">
            <a:avLst/>
          </a:prstGeom>
          <a:ln w="19050">
            <a:solidFill>
              <a:srgbClr val="333333"/>
            </a:solidFill>
            <a:tailEnd type="triangle" w="med" len="med"/>
          </a:ln>
        </p:spPr>
      </p:cxnSp>
      <p:sp>
        <p:nvSpPr>
          <p:cNvPr id="19" name="Rectangle 18"/>
          <p:cNvSpPr/>
          <p:nvPr/>
        </p:nvSpPr>
        <p:spPr>
          <a:xfrm>
            <a:off x="7055508" y="2331720"/>
            <a:ext cx="1334109" cy="1143000"/>
          </a:xfrm>
          <a:prstGeom prst="rect">
            <a:avLst/>
          </a:prstGeom>
          <a:solidFill>
            <a:srgbClr val="FFFFFF"/>
          </a:solidFill>
          <a:ln w="12700">
            <a:solidFill>
              <a:srgbClr val="333333"/>
            </a:solidFill>
          </a:ln>
          <a:effectLst/>
        </p:spPr>
        <p:txBody>
          <a:bodyPr rtlCol="0" anchor="ctr" lIns="54864" rIns="54864" wrap="square"/>
          <a:lstStyle/>
          <a:p>
            <a:pPr algn="ctr"/>
            <a:r>
              <a:rPr sz="1400" b="1">
                <a:solidFill>
                  <a:srgbClr val="000000"/>
                </a:solidFill>
                <a:latin typeface="Arial"/>
              </a:rPr>
              <a:t>Rebalancing</a:t>
            </a:r>
          </a:p>
          <a:p>
            <a:pPr algn="ctr"/>
            <a:r>
              <a:rPr sz="1400" b="1">
                <a:solidFill>
                  <a:srgbClr val="000000"/>
                </a:solidFill>
                <a:latin typeface="Arial"/>
              </a:rPr>
              <a:t>optimizer</a:t>
            </a:r>
          </a:p>
        </p:txBody>
      </p:sp>
      <p:sp>
        <p:nvSpPr>
          <p:cNvPr id="20" name="TextBox 19"/>
          <p:cNvSpPr txBox="1"/>
          <p:nvPr/>
        </p:nvSpPr>
        <p:spPr>
          <a:xfrm>
            <a:off x="7009788" y="3639312"/>
            <a:ext cx="1425549" cy="731520"/>
          </a:xfrm>
          <a:prstGeom prst="rect">
            <a:avLst/>
          </a:prstGeom>
          <a:noFill/>
        </p:spPr>
        <p:txBody>
          <a:bodyPr wrap="square" lIns="0" rIns="0" tIns="0" bIns="0" anchor="t">
            <a:spAutoFit/>
          </a:bodyPr>
          <a:lstStyle/>
          <a:p>
            <a:pPr algn="ctr">
              <a:lnSpc>
                <a:spcPct val="110000"/>
              </a:lnSpc>
            </a:pPr>
            <a:r>
              <a:rPr sz="1100" b="0">
                <a:solidFill>
                  <a:srgbClr val="6E6E6E"/>
                </a:solidFill>
                <a:latin typeface="Arial"/>
              </a:rPr>
              <a:t>min-cost transfers</a:t>
            </a:r>
          </a:p>
          <a:p>
            <a:pPr algn="ctr">
              <a:lnSpc>
                <a:spcPct val="110000"/>
              </a:lnSpc>
            </a:pPr>
            <a:r>
              <a:rPr sz="1100" b="0">
                <a:solidFill>
                  <a:srgbClr val="6E6E6E"/>
                </a:solidFill>
                <a:latin typeface="Arial"/>
              </a:rPr>
              <a:t>under constraints</a:t>
            </a:r>
          </a:p>
        </p:txBody>
      </p:sp>
      <p:cxnSp>
        <p:nvCxnSpPr>
          <p:cNvPr id="21" name="Connector 20"/>
          <p:cNvCxnSpPr/>
          <p:nvPr/>
        </p:nvCxnSpPr>
        <p:spPr>
          <a:xfrm>
            <a:off x="8417049" y="2903220"/>
            <a:ext cx="237744" cy="0"/>
          </a:xfrm>
          <a:prstGeom prst="line">
            <a:avLst/>
          </a:prstGeom>
          <a:ln w="19050">
            <a:solidFill>
              <a:srgbClr val="333333"/>
            </a:solidFill>
            <a:tailEnd type="triangle" w="med" len="med"/>
          </a:ln>
        </p:spPr>
      </p:cxnSp>
      <p:sp>
        <p:nvSpPr>
          <p:cNvPr id="22" name="Rectangle 21"/>
          <p:cNvSpPr/>
          <p:nvPr/>
        </p:nvSpPr>
        <p:spPr>
          <a:xfrm>
            <a:off x="8682225" y="2331720"/>
            <a:ext cx="1334109" cy="1143000"/>
          </a:xfrm>
          <a:prstGeom prst="rect">
            <a:avLst/>
          </a:prstGeom>
          <a:solidFill>
            <a:srgbClr val="FFFFFF"/>
          </a:solidFill>
          <a:ln w="12700">
            <a:solidFill>
              <a:srgbClr val="333333"/>
            </a:solidFill>
          </a:ln>
          <a:effectLst/>
        </p:spPr>
        <p:txBody>
          <a:bodyPr rtlCol="0" anchor="ctr" lIns="54864" rIns="54864" wrap="square"/>
          <a:lstStyle/>
          <a:p>
            <a:pPr algn="ctr"/>
            <a:r>
              <a:rPr sz="1400" b="1">
                <a:solidFill>
                  <a:srgbClr val="000000"/>
                </a:solidFill>
                <a:latin typeface="Arial"/>
              </a:rPr>
              <a:t>Dashboard</a:t>
            </a:r>
          </a:p>
        </p:txBody>
      </p:sp>
      <p:sp>
        <p:nvSpPr>
          <p:cNvPr id="23" name="TextBox 22"/>
          <p:cNvSpPr txBox="1"/>
          <p:nvPr/>
        </p:nvSpPr>
        <p:spPr>
          <a:xfrm>
            <a:off x="8636505" y="3639312"/>
            <a:ext cx="1425549" cy="731520"/>
          </a:xfrm>
          <a:prstGeom prst="rect">
            <a:avLst/>
          </a:prstGeom>
          <a:noFill/>
        </p:spPr>
        <p:txBody>
          <a:bodyPr wrap="square" lIns="0" rIns="0" tIns="0" bIns="0" anchor="t">
            <a:spAutoFit/>
          </a:bodyPr>
          <a:lstStyle/>
          <a:p>
            <a:pPr algn="ctr">
              <a:lnSpc>
                <a:spcPct val="110000"/>
              </a:lnSpc>
            </a:pPr>
            <a:r>
              <a:rPr sz="1100" b="0">
                <a:solidFill>
                  <a:srgbClr val="6E6E6E"/>
                </a:solidFill>
                <a:latin typeface="Arial"/>
              </a:rPr>
              <a:t>plain-language</a:t>
            </a:r>
          </a:p>
          <a:p>
            <a:pPr algn="ctr">
              <a:lnSpc>
                <a:spcPct val="110000"/>
              </a:lnSpc>
            </a:pPr>
            <a:r>
              <a:rPr sz="1100" b="0">
                <a:solidFill>
                  <a:srgbClr val="6E6E6E"/>
                </a:solidFill>
                <a:latin typeface="Arial"/>
              </a:rPr>
              <a:t>reason per move</a:t>
            </a:r>
          </a:p>
        </p:txBody>
      </p:sp>
      <p:cxnSp>
        <p:nvCxnSpPr>
          <p:cNvPr id="24" name="Connector 23"/>
          <p:cNvCxnSpPr/>
          <p:nvPr/>
        </p:nvCxnSpPr>
        <p:spPr>
          <a:xfrm>
            <a:off x="10043766" y="2903220"/>
            <a:ext cx="237744" cy="0"/>
          </a:xfrm>
          <a:prstGeom prst="line">
            <a:avLst/>
          </a:prstGeom>
          <a:ln w="19050">
            <a:solidFill>
              <a:srgbClr val="333333"/>
            </a:solidFill>
            <a:tailEnd type="triangle" w="med" len="med"/>
          </a:ln>
        </p:spPr>
      </p:cxnSp>
      <p:sp>
        <p:nvSpPr>
          <p:cNvPr id="25" name="Rectangle 24"/>
          <p:cNvSpPr/>
          <p:nvPr/>
        </p:nvSpPr>
        <p:spPr>
          <a:xfrm>
            <a:off x="10308942" y="2331720"/>
            <a:ext cx="1334109" cy="1143000"/>
          </a:xfrm>
          <a:prstGeom prst="rect">
            <a:avLst/>
          </a:prstGeom>
          <a:solidFill>
            <a:srgbClr val="FFB502"/>
          </a:solidFill>
          <a:ln w="12700">
            <a:solidFill>
              <a:srgbClr val="000000"/>
            </a:solidFill>
          </a:ln>
          <a:effectLst/>
        </p:spPr>
        <p:txBody>
          <a:bodyPr rtlCol="0" anchor="ctr" lIns="54864" rIns="54864" wrap="square"/>
          <a:lstStyle/>
          <a:p>
            <a:pPr algn="ctr"/>
            <a:r>
              <a:rPr sz="1400" b="1">
                <a:solidFill>
                  <a:srgbClr val="000000"/>
                </a:solidFill>
                <a:latin typeface="Arial"/>
              </a:rPr>
              <a:t>Planner</a:t>
            </a:r>
          </a:p>
          <a:p>
            <a:pPr algn="ctr"/>
            <a:r>
              <a:rPr sz="1400" b="1">
                <a:solidFill>
                  <a:srgbClr val="000000"/>
                </a:solidFill>
                <a:latin typeface="Arial"/>
              </a:rPr>
              <a:t>approval</a:t>
            </a:r>
          </a:p>
        </p:txBody>
      </p:sp>
      <p:sp>
        <p:nvSpPr>
          <p:cNvPr id="26" name="TextBox 25"/>
          <p:cNvSpPr txBox="1"/>
          <p:nvPr/>
        </p:nvSpPr>
        <p:spPr>
          <a:xfrm>
            <a:off x="10263222" y="3639312"/>
            <a:ext cx="1425549" cy="731520"/>
          </a:xfrm>
          <a:prstGeom prst="rect">
            <a:avLst/>
          </a:prstGeom>
          <a:noFill/>
        </p:spPr>
        <p:txBody>
          <a:bodyPr wrap="square" lIns="0" rIns="0" tIns="0" bIns="0" anchor="t">
            <a:spAutoFit/>
          </a:bodyPr>
          <a:lstStyle/>
          <a:p>
            <a:pPr algn="ctr">
              <a:lnSpc>
                <a:spcPct val="110000"/>
              </a:lnSpc>
            </a:pPr>
            <a:r>
              <a:rPr sz="1100" b="0">
                <a:solidFill>
                  <a:srgbClr val="6E6E6E"/>
                </a:solidFill>
                <a:latin typeface="Arial"/>
              </a:rPr>
              <a:t>nothing moves</a:t>
            </a:r>
          </a:p>
          <a:p>
            <a:pPr algn="ctr">
              <a:lnSpc>
                <a:spcPct val="110000"/>
              </a:lnSpc>
            </a:pPr>
            <a:r>
              <a:rPr sz="1100" b="0">
                <a:solidFill>
                  <a:srgbClr val="6E6E6E"/>
                </a:solidFill>
                <a:latin typeface="Arial"/>
              </a:rPr>
              <a:t>without sign-off</a:t>
            </a:r>
          </a:p>
        </p:txBody>
      </p:sp>
      <p:sp>
        <p:nvSpPr>
          <p:cNvPr id="27" name="TextBox 26"/>
          <p:cNvSpPr txBox="1"/>
          <p:nvPr/>
        </p:nvSpPr>
        <p:spPr>
          <a:xfrm>
            <a:off x="548640" y="4754880"/>
            <a:ext cx="11094415" cy="457200"/>
          </a:xfrm>
          <a:prstGeom prst="rect">
            <a:avLst/>
          </a:prstGeom>
          <a:noFill/>
        </p:spPr>
        <p:txBody>
          <a:bodyPr wrap="square" lIns="0" rIns="0" tIns="0" bIns="0" anchor="t">
            <a:spAutoFit/>
          </a:bodyPr>
          <a:lstStyle/>
          <a:p>
            <a:pPr algn="ctr">
              <a:lnSpc>
                <a:spcPct val="110000"/>
              </a:lnSpc>
            </a:pPr>
            <a:r>
              <a:rPr sz="1300" b="0">
                <a:solidFill>
                  <a:srgbClr val="333333"/>
                </a:solidFill>
                <a:latin typeface="Arial"/>
              </a:rPr>
              <a:t>Every step checks its inputs; every assumption is documented in the repository.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822960" cy="82296"/>
          </a:xfrm>
          <a:prstGeom prst="rect">
            <a:avLst/>
          </a:prstGeom>
          <a:solidFill>
            <a:srgbClr val="FFB502"/>
          </a:solidFill>
          <a:ln>
            <a:noFill/>
          </a:ln>
          <a:effectLst/>
        </p:spPr>
        <p:txBody>
          <a:bodyPr rtlCol="0" anchor="ctr"/>
          <a:lstStyle/>
          <a:p>
            <a:pPr algn="ctr"/>
          </a:p>
        </p:txBody>
      </p:sp>
      <p:sp>
        <p:nvSpPr>
          <p:cNvPr id="3" name="TextBox 2"/>
          <p:cNvSpPr txBox="1"/>
          <p:nvPr/>
        </p:nvSpPr>
        <p:spPr>
          <a:xfrm>
            <a:off x="548640" y="566928"/>
            <a:ext cx="11094415" cy="914400"/>
          </a:xfrm>
          <a:prstGeom prst="rect">
            <a:avLst/>
          </a:prstGeom>
          <a:noFill/>
        </p:spPr>
        <p:txBody>
          <a:bodyPr wrap="square" lIns="0" rIns="0" tIns="0" bIns="0" anchor="t">
            <a:spAutoFit/>
          </a:bodyPr>
          <a:lstStyle/>
          <a:p>
            <a:pPr algn="l">
              <a:lnSpc>
                <a:spcPct val="100000"/>
              </a:lnSpc>
            </a:pPr>
            <a:r>
              <a:rPr sz="2600" b="1">
                <a:solidFill>
                  <a:srgbClr val="000000"/>
                </a:solidFill>
                <a:latin typeface="Arial"/>
              </a:rPr>
              <a:t>Forecasts are 33% more accurate than the seasonal baseline on a month the model never saw</a:t>
            </a:r>
          </a:p>
        </p:txBody>
      </p:sp>
      <p:sp>
        <p:nvSpPr>
          <p:cNvPr id="4" name="Rectangle 3"/>
          <p:cNvSpPr/>
          <p:nvPr/>
        </p:nvSpPr>
        <p:spPr>
          <a:xfrm>
            <a:off x="548640" y="6291072"/>
            <a:ext cx="11094415" cy="9525"/>
          </a:xfrm>
          <a:prstGeom prst="rect">
            <a:avLst/>
          </a:prstGeom>
          <a:solidFill>
            <a:srgbClr val="D9D9D9"/>
          </a:solidFill>
          <a:ln>
            <a:noFill/>
          </a:ln>
          <a:effectLst/>
        </p:spPr>
        <p:txBody>
          <a:bodyPr rtlCol="0" anchor="ctr"/>
          <a:lstStyle/>
          <a:p>
            <a:pPr algn="ct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0000"/>
              </a:lnSpc>
            </a:pPr>
            <a:r>
              <a:rPr sz="1000" b="0">
                <a:solidFill>
                  <a:srgbClr val="6E6E6E"/>
                </a:solidFill>
                <a:latin typeface="Arial"/>
              </a:rPr>
              <a:t>Synthetic data – for demonstration</a:t>
            </a:r>
          </a:p>
        </p:txBody>
      </p:sp>
      <p:sp>
        <p:nvSpPr>
          <p:cNvPr id="6" name="TextBox 5"/>
          <p:cNvSpPr txBox="1"/>
          <p:nvPr/>
        </p:nvSpPr>
        <p:spPr>
          <a:xfrm>
            <a:off x="10728655" y="6400800"/>
            <a:ext cx="914400" cy="274320"/>
          </a:xfrm>
          <a:prstGeom prst="rect">
            <a:avLst/>
          </a:prstGeom>
          <a:noFill/>
        </p:spPr>
        <p:txBody>
          <a:bodyPr wrap="square" lIns="0" rIns="0" tIns="0" bIns="0" anchor="t">
            <a:spAutoFit/>
          </a:bodyPr>
          <a:lstStyle/>
          <a:p>
            <a:pPr algn="r">
              <a:lnSpc>
                <a:spcPct val="110000"/>
              </a:lnSpc>
            </a:pPr>
            <a:r>
              <a:rPr sz="1000" b="0">
                <a:solidFill>
                  <a:srgbClr val="6E6E6E"/>
                </a:solidFill>
                <a:latin typeface="Arial"/>
              </a:rPr>
              <a:t>4</a:t>
            </a:r>
          </a:p>
        </p:txBody>
      </p:sp>
      <p:pic>
        <p:nvPicPr>
          <p:cNvPr id="7" name="Picture 6" descr="forecast.png"/>
          <p:cNvPicPr>
            <a:picLocks noChangeAspect="1"/>
          </p:cNvPicPr>
          <p:nvPr/>
        </p:nvPicPr>
        <p:blipFill>
          <a:blip r:embed="rId3"/>
          <a:stretch>
            <a:fillRect/>
          </a:stretch>
        </p:blipFill>
        <p:spPr>
          <a:xfrm>
            <a:off x="548640" y="2078059"/>
            <a:ext cx="6400800" cy="3067642"/>
          </a:xfrm>
          <a:prstGeom prst="rect">
            <a:avLst/>
          </a:prstGeom>
        </p:spPr>
      </p:pic>
      <p:sp>
        <p:nvSpPr>
          <p:cNvPr id="8" name="TextBox 7"/>
          <p:cNvSpPr txBox="1"/>
          <p:nvPr/>
        </p:nvSpPr>
        <p:spPr>
          <a:xfrm>
            <a:off x="548640" y="5237141"/>
            <a:ext cx="6400800" cy="365760"/>
          </a:xfrm>
          <a:prstGeom prst="rect">
            <a:avLst/>
          </a:prstGeom>
          <a:noFill/>
        </p:spPr>
        <p:txBody>
          <a:bodyPr wrap="square" lIns="0" rIns="0" tIns="0" bIns="0" anchor="t">
            <a:spAutoFit/>
          </a:bodyPr>
          <a:lstStyle/>
          <a:p>
            <a:pPr algn="ctr">
              <a:lnSpc>
                <a:spcPct val="110000"/>
              </a:lnSpc>
            </a:pPr>
            <a:r>
              <a:rPr sz="1100" b="0">
                <a:solidFill>
                  <a:srgbClr val="6E6E6E"/>
                </a:solidFill>
                <a:latin typeface="Arial"/>
              </a:rPr>
              <a:t>Branch B24, SKU S0057 (Tools), 2026-09-03 to 2026-09-30</a:t>
            </a:r>
          </a:p>
        </p:txBody>
      </p:sp>
      <p:graphicFrame>
        <p:nvGraphicFramePr>
          <p:cNvPr id="9" name="Table 8"/>
          <p:cNvGraphicFramePr>
            <a:graphicFrameLocks noGrp="1"/>
          </p:cNvGraphicFramePr>
          <p:nvPr/>
        </p:nvGraphicFramePr>
        <p:xfrm>
          <a:off x="7269480" y="1737360"/>
          <a:ext cx="4370832" cy="2743200"/>
        </p:xfrm>
        <a:graphic>
          <a:graphicData uri="http://schemas.openxmlformats.org/drawingml/2006/table">
            <a:tbl>
              <a:tblPr firstRow="0" bandRow="0">
                <a:tableStyleId>{5940675A-B579-460E-94D1-54222C63F5DA}</a:tableStyleId>
              </a:tblPr>
              <a:tblGrid>
                <a:gridCol w="2130552"/>
                <a:gridCol w="685800"/>
                <a:gridCol w="914400"/>
                <a:gridCol w="640080"/>
              </a:tblGrid>
              <a:tr h="457200">
                <a:tc>
                  <a:txBody>
                    <a:bodyPr wrap="square"/>
                    <a:lstStyle/>
                    <a:p>
                      <a:pPr algn="l"/>
                      <a:r>
                        <a:rPr sz="1200" b="1">
                          <a:solidFill>
                            <a:srgbClr val="333333"/>
                          </a:solidFill>
                          <a:latin typeface="Arial"/>
                        </a:rPr>
                        <a:t>Model (held-out month)</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c>
                  <a:txBody>
                    <a:bodyPr wrap="square"/>
                    <a:lstStyle/>
                    <a:p>
                      <a:pPr algn="r"/>
                      <a:r>
                        <a:rPr sz="1200" b="1">
                          <a:solidFill>
                            <a:srgbClr val="333333"/>
                          </a:solidFill>
                          <a:latin typeface="Arial"/>
                        </a:rPr>
                        <a:t>WAPE</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c>
                  <a:txBody>
                    <a:bodyPr wrap="square"/>
                    <a:lstStyle/>
                    <a:p>
                      <a:pPr algn="r"/>
                      <a:r>
                        <a:rPr sz="1200" b="1">
                          <a:solidFill>
                            <a:srgbClr val="333333"/>
                          </a:solidFill>
                          <a:latin typeface="Arial"/>
                        </a:rPr>
                        <a:t>MAE</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c>
                  <a:txBody>
                    <a:bodyPr wrap="square"/>
                    <a:lstStyle/>
                    <a:p>
                      <a:pPr algn="r"/>
                      <a:r>
                        <a:rPr sz="1200" b="1">
                          <a:solidFill>
                            <a:srgbClr val="333333"/>
                          </a:solidFill>
                          <a:latin typeface="Arial"/>
                        </a:rPr>
                        <a:t>Bias</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r>
              <a:tr h="457200">
                <a:tc>
                  <a:txBody>
                    <a:bodyPr wrap="square"/>
                    <a:lstStyle/>
                    <a:p>
                      <a:pPr algn="l"/>
                      <a:r>
                        <a:rPr sz="1200" b="0">
                          <a:solidFill>
                            <a:srgbClr val="000000"/>
                          </a:solidFill>
                          <a:latin typeface="Arial"/>
                        </a:rPr>
                        <a:t>Seasonal naive (baseline)</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74.9%</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3.38</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+1.2%</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457200">
                <a:tc>
                  <a:txBody>
                    <a:bodyPr wrap="square"/>
                    <a:lstStyle/>
                    <a:p>
                      <a:pPr algn="l"/>
                      <a:r>
                        <a:rPr sz="1200" b="0">
                          <a:solidFill>
                            <a:srgbClr val="000000"/>
                          </a:solidFill>
                          <a:latin typeface="Arial"/>
                        </a:rPr>
                        <a:t>Exponential smoothing</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56.6%</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2.55</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+2.5%</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457200">
                <a:tc>
                  <a:txBody>
                    <a:bodyPr wrap="square"/>
                    <a:lstStyle/>
                    <a:p>
                      <a:pPr algn="l"/>
                      <a:r>
                        <a:rPr sz="1200" b="0">
                          <a:solidFill>
                            <a:srgbClr val="000000"/>
                          </a:solidFill>
                          <a:latin typeface="Arial"/>
                        </a:rPr>
                        <a:t>Croston (intermittent)</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57.3%</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2.58</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+0.9%</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457200">
                <a:tc>
                  <a:txBody>
                    <a:bodyPr wrap="square"/>
                    <a:lstStyle/>
                    <a:p>
                      <a:pPr algn="l"/>
                      <a:r>
                        <a:rPr sz="1200" b="0">
                          <a:solidFill>
                            <a:srgbClr val="000000"/>
                          </a:solidFill>
                          <a:latin typeface="Arial"/>
                        </a:rPr>
                        <a:t>LightGBM (global ML)</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49.8%</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2.25</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+0.0%</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457200">
                <a:tc>
                  <a:txBody>
                    <a:bodyPr wrap="square"/>
                    <a:lstStyle/>
                    <a:p>
                      <a:pPr algn="l"/>
                      <a:r>
                        <a:rPr sz="1200" b="1">
                          <a:solidFill>
                            <a:srgbClr val="000000"/>
                          </a:solidFill>
                          <a:latin typeface="Arial"/>
                        </a:rPr>
                        <a:t>Selected per segment</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1">
                          <a:solidFill>
                            <a:srgbClr val="000000"/>
                          </a:solidFill>
                          <a:latin typeface="Arial"/>
                        </a:rPr>
                        <a:t>49.8%</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1">
                          <a:solidFill>
                            <a:srgbClr val="000000"/>
                          </a:solidFill>
                          <a:latin typeface="Arial"/>
                        </a:rPr>
                        <a:t>2.25</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1">
                          <a:solidFill>
                            <a:srgbClr val="000000"/>
                          </a:solidFill>
                          <a:latin typeface="Arial"/>
                        </a:rPr>
                        <a:t>+0.0%</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bl>
          </a:graphicData>
        </a:graphic>
      </p:graphicFrame>
      <p:sp>
        <p:nvSpPr>
          <p:cNvPr id="10" name="TextBox 9"/>
          <p:cNvSpPr txBox="1"/>
          <p:nvPr/>
        </p:nvSpPr>
        <p:spPr>
          <a:xfrm>
            <a:off x="7269480" y="4892040"/>
            <a:ext cx="4370832" cy="822960"/>
          </a:xfrm>
          <a:prstGeom prst="rect">
            <a:avLst/>
          </a:prstGeom>
          <a:noFill/>
        </p:spPr>
        <p:txBody>
          <a:bodyPr wrap="square" lIns="0" rIns="0" tIns="0" bIns="0" anchor="t">
            <a:spAutoFit/>
          </a:bodyPr>
          <a:lstStyle/>
          <a:p>
            <a:pPr algn="l">
              <a:lnSpc>
                <a:spcPct val="110000"/>
              </a:lnSpc>
            </a:pPr>
            <a:r>
              <a:rPr sz="1100" b="0">
                <a:solidFill>
                  <a:srgbClr val="6E6E6E"/>
                </a:solidFill>
                <a:latin typeface="Arial"/>
              </a:rPr>
              <a:t>WAPE = absolute error ÷ actual units; MAE in units per day. P10–P90 band held 83% of actual days (target 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822960" cy="82296"/>
          </a:xfrm>
          <a:prstGeom prst="rect">
            <a:avLst/>
          </a:prstGeom>
          <a:solidFill>
            <a:srgbClr val="FFB502"/>
          </a:solidFill>
          <a:ln>
            <a:noFill/>
          </a:ln>
          <a:effectLst/>
        </p:spPr>
        <p:txBody>
          <a:bodyPr rtlCol="0" anchor="ctr"/>
          <a:lstStyle/>
          <a:p>
            <a:pPr algn="ctr"/>
          </a:p>
        </p:txBody>
      </p:sp>
      <p:sp>
        <p:nvSpPr>
          <p:cNvPr id="3" name="TextBox 2"/>
          <p:cNvSpPr txBox="1"/>
          <p:nvPr/>
        </p:nvSpPr>
        <p:spPr>
          <a:xfrm>
            <a:off x="548640" y="566928"/>
            <a:ext cx="11094415" cy="914400"/>
          </a:xfrm>
          <a:prstGeom prst="rect">
            <a:avLst/>
          </a:prstGeom>
          <a:noFill/>
        </p:spPr>
        <p:txBody>
          <a:bodyPr wrap="square" lIns="0" rIns="0" tIns="0" bIns="0" anchor="t">
            <a:spAutoFit/>
          </a:bodyPr>
          <a:lstStyle/>
          <a:p>
            <a:pPr algn="l">
              <a:lnSpc>
                <a:spcPct val="100000"/>
              </a:lnSpc>
            </a:pPr>
            <a:r>
              <a:rPr sz="2600" b="1">
                <a:solidFill>
                  <a:srgbClr val="000000"/>
                </a:solidFill>
                <a:latin typeface="Arial"/>
              </a:rPr>
              <a:t>895 transfers cost $46k to move and save $216k net, $11k more than a rule of thumb</a:t>
            </a:r>
          </a:p>
        </p:txBody>
      </p:sp>
      <p:sp>
        <p:nvSpPr>
          <p:cNvPr id="4" name="Rectangle 3"/>
          <p:cNvSpPr/>
          <p:nvPr/>
        </p:nvSpPr>
        <p:spPr>
          <a:xfrm>
            <a:off x="548640" y="6291072"/>
            <a:ext cx="11094415" cy="9525"/>
          </a:xfrm>
          <a:prstGeom prst="rect">
            <a:avLst/>
          </a:prstGeom>
          <a:solidFill>
            <a:srgbClr val="D9D9D9"/>
          </a:solidFill>
          <a:ln>
            <a:noFill/>
          </a:ln>
          <a:effectLst/>
        </p:spPr>
        <p:txBody>
          <a:bodyPr rtlCol="0" anchor="ctr"/>
          <a:lstStyle/>
          <a:p>
            <a:pPr algn="ct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0000"/>
              </a:lnSpc>
            </a:pPr>
            <a:r>
              <a:rPr sz="1000" b="0">
                <a:solidFill>
                  <a:srgbClr val="6E6E6E"/>
                </a:solidFill>
                <a:latin typeface="Arial"/>
              </a:rPr>
              <a:t>Synthetic data – for demonstration</a:t>
            </a:r>
          </a:p>
        </p:txBody>
      </p:sp>
      <p:sp>
        <p:nvSpPr>
          <p:cNvPr id="6" name="TextBox 5"/>
          <p:cNvSpPr txBox="1"/>
          <p:nvPr/>
        </p:nvSpPr>
        <p:spPr>
          <a:xfrm>
            <a:off x="10728655" y="6400800"/>
            <a:ext cx="914400" cy="274320"/>
          </a:xfrm>
          <a:prstGeom prst="rect">
            <a:avLst/>
          </a:prstGeom>
          <a:noFill/>
        </p:spPr>
        <p:txBody>
          <a:bodyPr wrap="square" lIns="0" rIns="0" tIns="0" bIns="0" anchor="t">
            <a:spAutoFit/>
          </a:bodyPr>
          <a:lstStyle/>
          <a:p>
            <a:pPr algn="r">
              <a:lnSpc>
                <a:spcPct val="110000"/>
              </a:lnSpc>
            </a:pPr>
            <a:r>
              <a:rPr sz="1000" b="0">
                <a:solidFill>
                  <a:srgbClr val="6E6E6E"/>
                </a:solidFill>
                <a:latin typeface="Arial"/>
              </a:rPr>
              <a:t>5</a:t>
            </a:r>
          </a:p>
        </p:txBody>
      </p:sp>
      <p:pic>
        <p:nvPicPr>
          <p:cNvPr id="7" name="Picture 6" descr="transfer_map.png"/>
          <p:cNvPicPr>
            <a:picLocks noChangeAspect="1"/>
          </p:cNvPicPr>
          <p:nvPr/>
        </p:nvPicPr>
        <p:blipFill>
          <a:blip r:embed="rId3"/>
          <a:stretch>
            <a:fillRect/>
          </a:stretch>
        </p:blipFill>
        <p:spPr>
          <a:xfrm>
            <a:off x="548640" y="1699697"/>
            <a:ext cx="5852160" cy="3732925"/>
          </a:xfrm>
          <a:prstGeom prst="rect">
            <a:avLst/>
          </a:prstGeom>
        </p:spPr>
      </p:pic>
      <p:sp>
        <p:nvSpPr>
          <p:cNvPr id="8" name="TextBox 7"/>
          <p:cNvSpPr txBox="1"/>
          <p:nvPr/>
        </p:nvSpPr>
        <p:spPr>
          <a:xfrm>
            <a:off x="548640" y="5669280"/>
            <a:ext cx="5852160" cy="457200"/>
          </a:xfrm>
          <a:prstGeom prst="rect">
            <a:avLst/>
          </a:prstGeom>
          <a:noFill/>
        </p:spPr>
        <p:txBody>
          <a:bodyPr wrap="square" lIns="0" rIns="0" tIns="0" bIns="0" anchor="t">
            <a:spAutoFit/>
          </a:bodyPr>
          <a:lstStyle/>
          <a:p>
            <a:pPr algn="ctr">
              <a:lnSpc>
                <a:spcPct val="110000"/>
              </a:lnSpc>
            </a:pPr>
            <a:r>
              <a:rPr sz="1100" b="0">
                <a:solidFill>
                  <a:srgbClr val="6E6E6E"/>
                </a:solidFill>
                <a:latin typeface="Arial"/>
              </a:rPr>
              <a:t>Top 20 of 259 corridors · line width = units · black = sending branch, gold = receiving</a:t>
            </a:r>
          </a:p>
        </p:txBody>
      </p:sp>
      <p:graphicFrame>
        <p:nvGraphicFramePr>
          <p:cNvPr id="9" name="Table 8"/>
          <p:cNvGraphicFramePr>
            <a:graphicFrameLocks noGrp="1"/>
          </p:cNvGraphicFramePr>
          <p:nvPr/>
        </p:nvGraphicFramePr>
        <p:xfrm>
          <a:off x="6675120" y="1737360"/>
          <a:ext cx="4965192" cy="2743200"/>
        </p:xfrm>
        <a:graphic>
          <a:graphicData uri="http://schemas.openxmlformats.org/drawingml/2006/table">
            <a:tbl>
              <a:tblPr firstRow="0" bandRow="0">
                <a:tableStyleId>{5940675A-B579-460E-94D1-54222C63F5DA}</a:tableStyleId>
              </a:tblPr>
              <a:tblGrid>
                <a:gridCol w="1143000"/>
                <a:gridCol w="731520"/>
                <a:gridCol w="621792"/>
                <a:gridCol w="1051560"/>
                <a:gridCol w="1417320"/>
              </a:tblGrid>
              <a:tr h="457200">
                <a:tc>
                  <a:txBody>
                    <a:bodyPr wrap="square"/>
                    <a:lstStyle/>
                    <a:p>
                      <a:pPr algn="l"/>
                      <a:r>
                        <a:rPr sz="1200" b="1">
                          <a:solidFill>
                            <a:srgbClr val="333333"/>
                          </a:solidFill>
                          <a:latin typeface="Arial"/>
                        </a:rPr>
                        <a:t>From → To</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c>
                  <a:txBody>
                    <a:bodyPr wrap="square"/>
                    <a:lstStyle/>
                    <a:p>
                      <a:pPr algn="l"/>
                      <a:r>
                        <a:rPr sz="1200" b="1">
                          <a:solidFill>
                            <a:srgbClr val="333333"/>
                          </a:solidFill>
                          <a:latin typeface="Arial"/>
                        </a:rPr>
                        <a:t>SKU</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c>
                  <a:txBody>
                    <a:bodyPr wrap="square"/>
                    <a:lstStyle/>
                    <a:p>
                      <a:pPr algn="r"/>
                      <a:r>
                        <a:rPr sz="1200" b="1">
                          <a:solidFill>
                            <a:srgbClr val="333333"/>
                          </a:solidFill>
                          <a:latin typeface="Arial"/>
                        </a:rPr>
                        <a:t>Units</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c>
                  <a:txBody>
                    <a:bodyPr wrap="square"/>
                    <a:lstStyle/>
                    <a:p>
                      <a:pPr algn="r"/>
                      <a:r>
                        <a:rPr sz="1200" b="1">
                          <a:solidFill>
                            <a:srgbClr val="333333"/>
                          </a:solidFill>
                          <a:latin typeface="Arial"/>
                        </a:rPr>
                        <a:t>Net savings</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c>
                  <a:txBody>
                    <a:bodyPr wrap="square"/>
                    <a:lstStyle/>
                    <a:p>
                      <a:pPr algn="l"/>
                      <a:r>
                        <a:rPr sz="1200" b="1">
                          <a:solidFill>
                            <a:srgbClr val="333333"/>
                          </a:solidFill>
                          <a:latin typeface="Arial"/>
                        </a:rPr>
                        <a:t>Reason</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r>
              <a:tr h="457200">
                <a:tc>
                  <a:txBody>
                    <a:bodyPr wrap="square"/>
                    <a:lstStyle/>
                    <a:p>
                      <a:pPr algn="l"/>
                      <a:r>
                        <a:rPr sz="1200" b="0">
                          <a:solidFill>
                            <a:srgbClr val="000000"/>
                          </a:solidFill>
                          <a:latin typeface="Arial"/>
                        </a:rPr>
                        <a:t>B10 → B17</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l"/>
                      <a:r>
                        <a:rPr sz="1200" b="0">
                          <a:solidFill>
                            <a:srgbClr val="000000"/>
                          </a:solidFill>
                          <a:latin typeface="Arial"/>
                        </a:rPr>
                        <a:t>S0190</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208</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$4,318</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l"/>
                      <a:r>
                        <a:rPr sz="1200" b="0">
                          <a:solidFill>
                            <a:srgbClr val="000000"/>
                          </a:solidFill>
                          <a:latin typeface="Arial"/>
                        </a:rPr>
                        <a:t>Excess → shortfall</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457200">
                <a:tc>
                  <a:txBody>
                    <a:bodyPr wrap="square"/>
                    <a:lstStyle/>
                    <a:p>
                      <a:pPr algn="l"/>
                      <a:r>
                        <a:rPr sz="1200" b="0">
                          <a:solidFill>
                            <a:srgbClr val="000000"/>
                          </a:solidFill>
                          <a:latin typeface="Arial"/>
                        </a:rPr>
                        <a:t>B19 → B23</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l"/>
                      <a:r>
                        <a:rPr sz="1200" b="0">
                          <a:solidFill>
                            <a:srgbClr val="000000"/>
                          </a:solidFill>
                          <a:latin typeface="Arial"/>
                        </a:rPr>
                        <a:t>S0190</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215</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$4,206</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l"/>
                      <a:r>
                        <a:rPr sz="1200" b="0">
                          <a:solidFill>
                            <a:srgbClr val="000000"/>
                          </a:solidFill>
                          <a:latin typeface="Arial"/>
                        </a:rPr>
                        <a:t>Excess → shortfall</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457200">
                <a:tc>
                  <a:txBody>
                    <a:bodyPr wrap="square"/>
                    <a:lstStyle/>
                    <a:p>
                      <a:pPr algn="l"/>
                      <a:r>
                        <a:rPr sz="1200" b="0">
                          <a:solidFill>
                            <a:srgbClr val="000000"/>
                          </a:solidFill>
                          <a:latin typeface="Arial"/>
                        </a:rPr>
                        <a:t>B14 → B19</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l"/>
                      <a:r>
                        <a:rPr sz="1200" b="0">
                          <a:solidFill>
                            <a:srgbClr val="000000"/>
                          </a:solidFill>
                          <a:latin typeface="Arial"/>
                        </a:rPr>
                        <a:t>S0285</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202</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$3,781</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l"/>
                      <a:r>
                        <a:rPr sz="1200" b="0">
                          <a:solidFill>
                            <a:srgbClr val="000000"/>
                          </a:solidFill>
                          <a:latin typeface="Arial"/>
                        </a:rPr>
                        <a:t>Excess → shortfall</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457200">
                <a:tc>
                  <a:txBody>
                    <a:bodyPr wrap="square"/>
                    <a:lstStyle/>
                    <a:p>
                      <a:pPr algn="l"/>
                      <a:r>
                        <a:rPr sz="1200" b="0">
                          <a:solidFill>
                            <a:srgbClr val="000000"/>
                          </a:solidFill>
                          <a:latin typeface="Arial"/>
                        </a:rPr>
                        <a:t>B10 → B07</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l"/>
                      <a:r>
                        <a:rPr sz="1200" b="0">
                          <a:solidFill>
                            <a:srgbClr val="000000"/>
                          </a:solidFill>
                          <a:latin typeface="Arial"/>
                        </a:rPr>
                        <a:t>S0190</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132</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$3,330</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l"/>
                      <a:r>
                        <a:rPr sz="1200" b="0">
                          <a:solidFill>
                            <a:srgbClr val="000000"/>
                          </a:solidFill>
                          <a:latin typeface="Arial"/>
                        </a:rPr>
                        <a:t>Excess → shortfall</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457200">
                <a:tc>
                  <a:txBody>
                    <a:bodyPr wrap="square"/>
                    <a:lstStyle/>
                    <a:p>
                      <a:pPr algn="l"/>
                      <a:r>
                        <a:rPr sz="1200" b="0">
                          <a:solidFill>
                            <a:srgbClr val="000000"/>
                          </a:solidFill>
                          <a:latin typeface="Arial"/>
                        </a:rPr>
                        <a:t>B19 → B09</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l"/>
                      <a:r>
                        <a:rPr sz="1200" b="0">
                          <a:solidFill>
                            <a:srgbClr val="000000"/>
                          </a:solidFill>
                          <a:latin typeface="Arial"/>
                        </a:rPr>
                        <a:t>S0134</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216</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200" b="0">
                          <a:solidFill>
                            <a:srgbClr val="000000"/>
                          </a:solidFill>
                          <a:latin typeface="Arial"/>
                        </a:rPr>
                        <a:t>$3,249</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l"/>
                      <a:r>
                        <a:rPr sz="1200" b="0">
                          <a:solidFill>
                            <a:srgbClr val="000000"/>
                          </a:solidFill>
                          <a:latin typeface="Arial"/>
                        </a:rPr>
                        <a:t>Excess → shortfall</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bl>
          </a:graphicData>
        </a:graphic>
      </p:graphicFrame>
      <p:sp>
        <p:nvSpPr>
          <p:cNvPr id="10" name="TextBox 9"/>
          <p:cNvSpPr txBox="1"/>
          <p:nvPr/>
        </p:nvSpPr>
        <p:spPr>
          <a:xfrm>
            <a:off x="6675120" y="4892040"/>
            <a:ext cx="4965192" cy="822960"/>
          </a:xfrm>
          <a:prstGeom prst="rect">
            <a:avLst/>
          </a:prstGeom>
          <a:noFill/>
        </p:spPr>
        <p:txBody>
          <a:bodyPr wrap="square" lIns="0" rIns="0" tIns="0" bIns="0" anchor="t">
            <a:spAutoFit/>
          </a:bodyPr>
          <a:lstStyle/>
          <a:p>
            <a:pPr algn="l">
              <a:lnSpc>
                <a:spcPct val="110000"/>
              </a:lnSpc>
            </a:pPr>
            <a:r>
              <a:rPr sz="1200" b="0">
                <a:solidFill>
                  <a:srgbClr val="333333"/>
                </a:solidFill>
                <a:latin typeface="Arial"/>
              </a:rPr>
              <a:t>Each move ships with a plain-language reason a branch manager can check.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822960" cy="82296"/>
          </a:xfrm>
          <a:prstGeom prst="rect">
            <a:avLst/>
          </a:prstGeom>
          <a:solidFill>
            <a:srgbClr val="FFB502"/>
          </a:solidFill>
          <a:ln>
            <a:noFill/>
          </a:ln>
          <a:effectLst/>
        </p:spPr>
        <p:txBody>
          <a:bodyPr rtlCol="0" anchor="ctr"/>
          <a:lstStyle/>
          <a:p>
            <a:pPr algn="ctr"/>
          </a:p>
        </p:txBody>
      </p:sp>
      <p:sp>
        <p:nvSpPr>
          <p:cNvPr id="3" name="TextBox 2"/>
          <p:cNvSpPr txBox="1"/>
          <p:nvPr/>
        </p:nvSpPr>
        <p:spPr>
          <a:xfrm>
            <a:off x="548640" y="566928"/>
            <a:ext cx="11094415" cy="914400"/>
          </a:xfrm>
          <a:prstGeom prst="rect">
            <a:avLst/>
          </a:prstGeom>
          <a:noFill/>
        </p:spPr>
        <p:txBody>
          <a:bodyPr wrap="square" lIns="0" rIns="0" tIns="0" bIns="0" anchor="t">
            <a:spAutoFit/>
          </a:bodyPr>
          <a:lstStyle/>
          <a:p>
            <a:pPr algn="l">
              <a:lnSpc>
                <a:spcPct val="100000"/>
              </a:lnSpc>
            </a:pPr>
            <a:r>
              <a:rPr sz="2600" b="1">
                <a:solidFill>
                  <a:srgbClr val="000000"/>
                </a:solidFill>
                <a:latin typeface="Arial"/>
              </a:rPr>
              <a:t>Rebalancing frees $1.2M of excess and avoids 85% of expected lost sales</a:t>
            </a:r>
          </a:p>
        </p:txBody>
      </p:sp>
      <p:sp>
        <p:nvSpPr>
          <p:cNvPr id="4" name="Rectangle 3"/>
          <p:cNvSpPr/>
          <p:nvPr/>
        </p:nvSpPr>
        <p:spPr>
          <a:xfrm>
            <a:off x="548640" y="6291072"/>
            <a:ext cx="11094415" cy="9525"/>
          </a:xfrm>
          <a:prstGeom prst="rect">
            <a:avLst/>
          </a:prstGeom>
          <a:solidFill>
            <a:srgbClr val="D9D9D9"/>
          </a:solidFill>
          <a:ln>
            <a:noFill/>
          </a:ln>
          <a:effectLst/>
        </p:spPr>
        <p:txBody>
          <a:bodyPr rtlCol="0" anchor="ctr"/>
          <a:lstStyle/>
          <a:p>
            <a:pPr algn="ct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0000"/>
              </a:lnSpc>
            </a:pPr>
            <a:r>
              <a:rPr sz="1000" b="0">
                <a:solidFill>
                  <a:srgbClr val="6E6E6E"/>
                </a:solidFill>
                <a:latin typeface="Arial"/>
              </a:rPr>
              <a:t>Synthetic data – for demonstration</a:t>
            </a:r>
          </a:p>
        </p:txBody>
      </p:sp>
      <p:sp>
        <p:nvSpPr>
          <p:cNvPr id="6" name="TextBox 5"/>
          <p:cNvSpPr txBox="1"/>
          <p:nvPr/>
        </p:nvSpPr>
        <p:spPr>
          <a:xfrm>
            <a:off x="10728655" y="6400800"/>
            <a:ext cx="914400" cy="274320"/>
          </a:xfrm>
          <a:prstGeom prst="rect">
            <a:avLst/>
          </a:prstGeom>
          <a:noFill/>
        </p:spPr>
        <p:txBody>
          <a:bodyPr wrap="square" lIns="0" rIns="0" tIns="0" bIns="0" anchor="t">
            <a:spAutoFit/>
          </a:bodyPr>
          <a:lstStyle/>
          <a:p>
            <a:pPr algn="r">
              <a:lnSpc>
                <a:spcPct val="110000"/>
              </a:lnSpc>
            </a:pPr>
            <a:r>
              <a:rPr sz="1000" b="0">
                <a:solidFill>
                  <a:srgbClr val="6E6E6E"/>
                </a:solidFill>
                <a:latin typeface="Arial"/>
              </a:rPr>
              <a:t>6</a:t>
            </a:r>
          </a:p>
        </p:txBody>
      </p:sp>
      <p:sp>
        <p:nvSpPr>
          <p:cNvPr id="7" name="Rectangle 6"/>
          <p:cNvSpPr/>
          <p:nvPr/>
        </p:nvSpPr>
        <p:spPr>
          <a:xfrm>
            <a:off x="548640" y="1691640"/>
            <a:ext cx="3749039" cy="4114800"/>
          </a:xfrm>
          <a:prstGeom prst="rect">
            <a:avLst/>
          </a:prstGeom>
          <a:solidFill>
            <a:srgbClr val="FFB502"/>
          </a:solidFill>
          <a:ln>
            <a:noFill/>
          </a:ln>
          <a:effectLst/>
        </p:spPr>
        <p:txBody>
          <a:bodyPr rtlCol="0" anchor="ctr"/>
          <a:lstStyle/>
          <a:p>
            <a:pPr algn="ctr"/>
          </a:p>
        </p:txBody>
      </p:sp>
      <p:sp>
        <p:nvSpPr>
          <p:cNvPr id="8" name="TextBox 7"/>
          <p:cNvSpPr txBox="1"/>
          <p:nvPr/>
        </p:nvSpPr>
        <p:spPr>
          <a:xfrm>
            <a:off x="868680" y="2514600"/>
            <a:ext cx="3108959" cy="1280160"/>
          </a:xfrm>
          <a:prstGeom prst="rect">
            <a:avLst/>
          </a:prstGeom>
          <a:noFill/>
        </p:spPr>
        <p:txBody>
          <a:bodyPr wrap="square" lIns="0" rIns="0" tIns="0" bIns="0" anchor="t">
            <a:spAutoFit/>
          </a:bodyPr>
          <a:lstStyle/>
          <a:p>
            <a:pPr algn="l">
              <a:lnSpc>
                <a:spcPct val="110000"/>
              </a:lnSpc>
            </a:pPr>
            <a:r>
              <a:rPr sz="6600" b="1">
                <a:solidFill>
                  <a:srgbClr val="000000"/>
                </a:solidFill>
                <a:latin typeface="Arial"/>
              </a:rPr>
              <a:t>$1.2M</a:t>
            </a:r>
          </a:p>
        </p:txBody>
      </p:sp>
      <p:sp>
        <p:nvSpPr>
          <p:cNvPr id="9" name="TextBox 8"/>
          <p:cNvSpPr txBox="1"/>
          <p:nvPr/>
        </p:nvSpPr>
        <p:spPr>
          <a:xfrm>
            <a:off x="868680" y="3840480"/>
            <a:ext cx="3108959" cy="1463040"/>
          </a:xfrm>
          <a:prstGeom prst="rect">
            <a:avLst/>
          </a:prstGeom>
          <a:noFill/>
        </p:spPr>
        <p:txBody>
          <a:bodyPr wrap="square" lIns="0" rIns="0" tIns="0" bIns="0" anchor="t">
            <a:spAutoFit/>
          </a:bodyPr>
          <a:lstStyle/>
          <a:p>
            <a:pPr algn="l">
              <a:lnSpc>
                <a:spcPct val="110000"/>
              </a:lnSpc>
            </a:pPr>
            <a:r>
              <a:rPr sz="1600" b="0">
                <a:solidFill>
                  <a:srgbClr val="000000"/>
                </a:solidFill>
                <a:latin typeface="Arial"/>
              </a:rPr>
              <a:t>excess inventory put back to work</a:t>
            </a:r>
          </a:p>
          <a:p>
            <a:pPr algn="l">
              <a:lnSpc>
                <a:spcPct val="110000"/>
              </a:lnSpc>
            </a:pPr>
            <a:r>
              <a:rPr sz="1600" b="0">
                <a:solidFill>
                  <a:srgbClr val="000000"/>
                </a:solidFill>
                <a:latin typeface="Arial"/>
              </a:rPr>
              <a:t/>
            </a:r>
          </a:p>
          <a:p>
            <a:pPr algn="l">
              <a:lnSpc>
                <a:spcPct val="110000"/>
              </a:lnSpc>
            </a:pPr>
            <a:r>
              <a:rPr sz="1600" b="1">
                <a:solidFill>
                  <a:srgbClr val="000000"/>
                </a:solidFill>
                <a:latin typeface="Arial"/>
              </a:rPr>
              <a:t>8,948 lost-sale units avoided</a:t>
            </a:r>
          </a:p>
        </p:txBody>
      </p:sp>
      <p:graphicFrame>
        <p:nvGraphicFramePr>
          <p:cNvPr id="10" name="Table 9"/>
          <p:cNvGraphicFramePr>
            <a:graphicFrameLocks noGrp="1"/>
          </p:cNvGraphicFramePr>
          <p:nvPr/>
        </p:nvGraphicFramePr>
        <p:xfrm>
          <a:off x="4709160" y="1691640"/>
          <a:ext cx="6931151" cy="3584448"/>
        </p:xfrm>
        <a:graphic>
          <a:graphicData uri="http://schemas.openxmlformats.org/drawingml/2006/table">
            <a:tbl>
              <a:tblPr firstRow="0" bandRow="0">
                <a:tableStyleId>{5940675A-B579-460E-94D1-54222C63F5DA}</a:tableStyleId>
              </a:tblPr>
              <a:tblGrid>
                <a:gridCol w="3822191"/>
                <a:gridCol w="1554480"/>
                <a:gridCol w="1554480"/>
              </a:tblGrid>
              <a:tr h="512064">
                <a:tc>
                  <a:txBody>
                    <a:bodyPr wrap="square"/>
                    <a:lstStyle/>
                    <a:p>
                      <a:pPr algn="l"/>
                      <a:r>
                        <a:rPr sz="1300" b="1">
                          <a:solidFill>
                            <a:srgbClr val="333333"/>
                          </a:solidFill>
                          <a:latin typeface="Arial"/>
                        </a:rPr>
                        <a:t>Measure</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c>
                  <a:txBody>
                    <a:bodyPr wrap="square"/>
                    <a:lstStyle/>
                    <a:p>
                      <a:pPr algn="r"/>
                      <a:r>
                        <a:rPr sz="1300" b="1">
                          <a:solidFill>
                            <a:srgbClr val="333333"/>
                          </a:solidFill>
                          <a:latin typeface="Arial"/>
                        </a:rPr>
                        <a:t>Before</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c>
                  <a:txBody>
                    <a:bodyPr wrap="square"/>
                    <a:lstStyle/>
                    <a:p>
                      <a:pPr algn="r"/>
                      <a:r>
                        <a:rPr sz="1300" b="1">
                          <a:solidFill>
                            <a:srgbClr val="333333"/>
                          </a:solidFill>
                          <a:latin typeface="Arial"/>
                        </a:rPr>
                        <a:t>After</a:t>
                      </a:r>
                    </a:p>
                  </a:txBody>
                  <a:tcPr marL="73152" marR="73152" marT="18288" marB="18288" anchor="ctr">
                    <a:solidFill>
                      <a:srgbClr val="F2F2F2"/>
                    </a:solidFill>
                    <a:lnL w="0" cmpd="sng">
                      <a:noFill/>
                    </a:lnL>
                    <a:lnR w="0" cmpd="sng">
                      <a:noFill/>
                    </a:lnR>
                    <a:lnT w="12700" cmpd="sng">
                      <a:solidFill>
                        <a:srgbClr val="D9D9D9"/>
                      </a:solidFill>
                    </a:lnT>
                    <a:lnB w="12700" cmpd="sng">
                      <a:solidFill>
                        <a:srgbClr val="D9D9D9"/>
                      </a:solidFill>
                    </a:lnB>
                  </a:tcPr>
                </a:tc>
              </a:tr>
              <a:tr h="512064">
                <a:tc>
                  <a:txBody>
                    <a:bodyPr wrap="square"/>
                    <a:lstStyle/>
                    <a:p>
                      <a:pPr algn="l"/>
                      <a:r>
                        <a:rPr sz="1300" b="0">
                          <a:solidFill>
                            <a:srgbClr val="000000"/>
                          </a:solidFill>
                          <a:latin typeface="Arial"/>
                        </a:rPr>
                        <a:t>Excess above target</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$8.3M</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$7.1M</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512064">
                <a:tc>
                  <a:txBody>
                    <a:bodyPr wrap="square"/>
                    <a:lstStyle/>
                    <a:p>
                      <a:pPr algn="l"/>
                      <a:r>
                        <a:rPr sz="1300" b="0">
                          <a:solidFill>
                            <a:srgbClr val="000000"/>
                          </a:solidFill>
                          <a:latin typeface="Arial"/>
                        </a:rPr>
                        <a:t>Annual carrying cost of excess</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$2.18M</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$1.90M</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512064">
                <a:tc>
                  <a:txBody>
                    <a:bodyPr wrap="square"/>
                    <a:lstStyle/>
                    <a:p>
                      <a:pPr algn="l"/>
                      <a:r>
                        <a:rPr sz="1300" b="0">
                          <a:solidFill>
                            <a:srgbClr val="000000"/>
                          </a:solidFill>
                          <a:latin typeface="Arial"/>
                        </a:rPr>
                        <a:t>Expected lost-sale units (lead time)</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10,533</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1,585</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512064">
                <a:tc>
                  <a:txBody>
                    <a:bodyPr wrap="square"/>
                    <a:lstStyle/>
                    <a:p>
                      <a:pPr algn="l"/>
                      <a:r>
                        <a:rPr sz="1300" b="0">
                          <a:solidFill>
                            <a:srgbClr val="000000"/>
                          </a:solidFill>
                          <a:latin typeface="Arial"/>
                        </a:rPr>
                        <a:t>Positions at stock-out risk</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419</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76</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512064">
                <a:tc>
                  <a:txBody>
                    <a:bodyPr wrap="square"/>
                    <a:lstStyle/>
                    <a:p>
                      <a:pPr algn="l"/>
                      <a:r>
                        <a:rPr sz="1300" b="0">
                          <a:solidFill>
                            <a:srgbClr val="000000"/>
                          </a:solidFill>
                          <a:latin typeface="Arial"/>
                        </a:rPr>
                        <a:t>Inventory turns</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8.5</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9.0</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r h="512064">
                <a:tc>
                  <a:txBody>
                    <a:bodyPr wrap="square"/>
                    <a:lstStyle/>
                    <a:p>
                      <a:pPr algn="l"/>
                      <a:r>
                        <a:rPr sz="1300" b="0">
                          <a:solidFill>
                            <a:srgbClr val="000000"/>
                          </a:solidFill>
                          <a:latin typeface="Arial"/>
                        </a:rPr>
                        <a:t>Net savings (one cycle)</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a:t>
                      </a:r>
                    </a:p>
                  </a:txBody>
                  <a:tcPr marL="73152" marR="73152" marT="18288" marB="18288" anchor="ctr">
                    <a:solidFill>
                      <a:srgbClr val="FFFFFF"/>
                    </a:solidFill>
                    <a:lnL w="0" cmpd="sng">
                      <a:noFill/>
                    </a:lnL>
                    <a:lnR w="0" cmpd="sng">
                      <a:noFill/>
                    </a:lnR>
                    <a:lnT w="0" cmpd="sng">
                      <a:noFill/>
                    </a:lnT>
                    <a:lnB w="12700" cmpd="sng">
                      <a:solidFill>
                        <a:srgbClr val="D9D9D9"/>
                      </a:solidFill>
                    </a:lnB>
                  </a:tcPr>
                </a:tc>
                <a:tc>
                  <a:txBody>
                    <a:bodyPr wrap="square"/>
                    <a:lstStyle/>
                    <a:p>
                      <a:pPr algn="r"/>
                      <a:r>
                        <a:rPr sz="1300" b="0">
                          <a:solidFill>
                            <a:srgbClr val="000000"/>
                          </a:solidFill>
                          <a:latin typeface="Arial"/>
                        </a:rPr>
                        <a:t>$216k</a:t>
                      </a:r>
                    </a:p>
                  </a:txBody>
                  <a:tcPr marL="73152" marR="73152" marT="18288" marB="18288" anchor="ctr">
                    <a:solidFill>
                      <a:srgbClr val="FFFFFF"/>
                    </a:solidFill>
                    <a:lnL w="0" cmpd="sng">
                      <a:noFill/>
                    </a:lnL>
                    <a:lnR w="0" cmpd="sng">
                      <a:noFill/>
                    </a:lnR>
                    <a:lnT w="0" cmpd="sng">
                      <a:noFill/>
                    </a:lnT>
                    <a:lnB w="12700" cmpd="sng">
                      <a:solidFill>
                        <a:srgbClr val="D9D9D9"/>
                      </a:solidFill>
                    </a:lnB>
                  </a:tcPr>
                </a:tc>
              </a:tr>
            </a:tbl>
          </a:graphicData>
        </a:graphic>
      </p:graphicFrame>
      <p:sp>
        <p:nvSpPr>
          <p:cNvPr id="11" name="TextBox 10"/>
          <p:cNvSpPr txBox="1"/>
          <p:nvPr/>
        </p:nvSpPr>
        <p:spPr>
          <a:xfrm>
            <a:off x="4709160" y="5669280"/>
            <a:ext cx="6931152" cy="457200"/>
          </a:xfrm>
          <a:prstGeom prst="rect">
            <a:avLst/>
          </a:prstGeom>
          <a:noFill/>
        </p:spPr>
        <p:txBody>
          <a:bodyPr wrap="square" lIns="0" rIns="0" tIns="0" bIns="0" anchor="t">
            <a:spAutoFit/>
          </a:bodyPr>
          <a:lstStyle/>
          <a:p>
            <a:pPr algn="l">
              <a:lnSpc>
                <a:spcPct val="110000"/>
              </a:lnSpc>
            </a:pPr>
            <a:r>
              <a:rPr sz="1100" b="0">
                <a:solidFill>
                  <a:srgbClr val="6E6E6E"/>
                </a:solidFill>
                <a:latin typeface="Arial"/>
              </a:rPr>
              <a:t>Model estimates for one planning cycle versus doing nothing.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822960" cy="82296"/>
          </a:xfrm>
          <a:prstGeom prst="rect">
            <a:avLst/>
          </a:prstGeom>
          <a:solidFill>
            <a:srgbClr val="FFB502"/>
          </a:solidFill>
          <a:ln>
            <a:noFill/>
          </a:ln>
          <a:effectLst/>
        </p:spPr>
        <p:txBody>
          <a:bodyPr rtlCol="0" anchor="ctr"/>
          <a:lstStyle/>
          <a:p>
            <a:pPr algn="ctr"/>
          </a:p>
        </p:txBody>
      </p:sp>
      <p:sp>
        <p:nvSpPr>
          <p:cNvPr id="3" name="TextBox 2"/>
          <p:cNvSpPr txBox="1"/>
          <p:nvPr/>
        </p:nvSpPr>
        <p:spPr>
          <a:xfrm>
            <a:off x="548640" y="566928"/>
            <a:ext cx="11094415" cy="914400"/>
          </a:xfrm>
          <a:prstGeom prst="rect">
            <a:avLst/>
          </a:prstGeom>
          <a:noFill/>
        </p:spPr>
        <p:txBody>
          <a:bodyPr wrap="square" lIns="0" rIns="0" tIns="0" bIns="0" anchor="t">
            <a:spAutoFit/>
          </a:bodyPr>
          <a:lstStyle/>
          <a:p>
            <a:pPr algn="l">
              <a:lnSpc>
                <a:spcPct val="100000"/>
              </a:lnSpc>
            </a:pPr>
            <a:r>
              <a:rPr sz="2600" b="1">
                <a:solidFill>
                  <a:srgbClr val="000000"/>
                </a:solidFill>
                <a:latin typeface="Arial"/>
              </a:rPr>
              <a:t>A branch manager sees what to move, why, and approves it on one screen</a:t>
            </a:r>
          </a:p>
        </p:txBody>
      </p:sp>
      <p:sp>
        <p:nvSpPr>
          <p:cNvPr id="4" name="Rectangle 3"/>
          <p:cNvSpPr/>
          <p:nvPr/>
        </p:nvSpPr>
        <p:spPr>
          <a:xfrm>
            <a:off x="548640" y="6291072"/>
            <a:ext cx="11094415" cy="9525"/>
          </a:xfrm>
          <a:prstGeom prst="rect">
            <a:avLst/>
          </a:prstGeom>
          <a:solidFill>
            <a:srgbClr val="D9D9D9"/>
          </a:solidFill>
          <a:ln>
            <a:noFill/>
          </a:ln>
          <a:effectLst/>
        </p:spPr>
        <p:txBody>
          <a:bodyPr rtlCol="0" anchor="ctr"/>
          <a:lstStyle/>
          <a:p>
            <a:pPr algn="ct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0000"/>
              </a:lnSpc>
            </a:pPr>
            <a:r>
              <a:rPr sz="1000" b="0">
                <a:solidFill>
                  <a:srgbClr val="6E6E6E"/>
                </a:solidFill>
                <a:latin typeface="Arial"/>
              </a:rPr>
              <a:t>Synthetic data – for demonstration</a:t>
            </a:r>
          </a:p>
        </p:txBody>
      </p:sp>
      <p:sp>
        <p:nvSpPr>
          <p:cNvPr id="6" name="TextBox 5"/>
          <p:cNvSpPr txBox="1"/>
          <p:nvPr/>
        </p:nvSpPr>
        <p:spPr>
          <a:xfrm>
            <a:off x="10728655" y="6400800"/>
            <a:ext cx="914400" cy="274320"/>
          </a:xfrm>
          <a:prstGeom prst="rect">
            <a:avLst/>
          </a:prstGeom>
          <a:noFill/>
        </p:spPr>
        <p:txBody>
          <a:bodyPr wrap="square" lIns="0" rIns="0" tIns="0" bIns="0" anchor="t">
            <a:spAutoFit/>
          </a:bodyPr>
          <a:lstStyle/>
          <a:p>
            <a:pPr algn="r">
              <a:lnSpc>
                <a:spcPct val="110000"/>
              </a:lnSpc>
            </a:pPr>
            <a:r>
              <a:rPr sz="1000" b="0">
                <a:solidFill>
                  <a:srgbClr val="6E6E6E"/>
                </a:solidFill>
                <a:latin typeface="Arial"/>
              </a:rPr>
              <a:t>7</a:t>
            </a:r>
          </a:p>
        </p:txBody>
      </p:sp>
      <p:pic>
        <p:nvPicPr>
          <p:cNvPr id="7" name="Picture 6" descr="dash_top.png"/>
          <p:cNvPicPr>
            <a:picLocks noChangeAspect="1"/>
          </p:cNvPicPr>
          <p:nvPr/>
        </p:nvPicPr>
        <p:blipFill>
          <a:blip r:embed="rId3"/>
          <a:stretch>
            <a:fillRect/>
          </a:stretch>
        </p:blipFill>
        <p:spPr>
          <a:xfrm>
            <a:off x="1628377" y="1600200"/>
            <a:ext cx="4058445" cy="4343400"/>
          </a:xfrm>
          <a:prstGeom prst="rect">
            <a:avLst/>
          </a:prstGeom>
        </p:spPr>
      </p:pic>
      <p:pic>
        <p:nvPicPr>
          <p:cNvPr id="8" name="Picture 7" descr="dash_table.png"/>
          <p:cNvPicPr>
            <a:picLocks noChangeAspect="1"/>
          </p:cNvPicPr>
          <p:nvPr/>
        </p:nvPicPr>
        <p:blipFill>
          <a:blip r:embed="rId4"/>
          <a:stretch>
            <a:fillRect/>
          </a:stretch>
        </p:blipFill>
        <p:spPr>
          <a:xfrm>
            <a:off x="6860798" y="1600200"/>
            <a:ext cx="4593836" cy="3017520"/>
          </a:xfrm>
          <a:prstGeom prst="rect">
            <a:avLst/>
          </a:prstGeom>
        </p:spPr>
      </p:pic>
      <p:sp>
        <p:nvSpPr>
          <p:cNvPr id="9" name="Oval 8"/>
          <p:cNvSpPr/>
          <p:nvPr/>
        </p:nvSpPr>
        <p:spPr>
          <a:xfrm>
            <a:off x="1189465" y="1842516"/>
            <a:ext cx="384048" cy="384048"/>
          </a:xfrm>
          <a:prstGeom prst="ellipse">
            <a:avLst/>
          </a:prstGeom>
          <a:solidFill>
            <a:srgbClr val="FFB502"/>
          </a:solidFill>
          <a:ln w="12700">
            <a:solidFill>
              <a:srgbClr val="000000"/>
            </a:solidFill>
          </a:ln>
          <a:effectLst/>
        </p:spPr>
        <p:txBody>
          <a:bodyPr rtlCol="0" anchor="ctr" lIns="0" rIns="0" tIns="0" bIns="0"/>
          <a:lstStyle/>
          <a:p>
            <a:pPr algn="ctr"/>
            <a:r>
              <a:rPr sz="1400" b="1">
                <a:solidFill>
                  <a:srgbClr val="000000"/>
                </a:solidFill>
                <a:latin typeface="Arial"/>
              </a:rPr>
              <a:t>1</a:t>
            </a:r>
          </a:p>
        </p:txBody>
      </p:sp>
      <p:sp>
        <p:nvSpPr>
          <p:cNvPr id="10" name="Oval 9"/>
          <p:cNvSpPr/>
          <p:nvPr/>
        </p:nvSpPr>
        <p:spPr>
          <a:xfrm>
            <a:off x="3343822" y="4405122"/>
            <a:ext cx="384048" cy="384048"/>
          </a:xfrm>
          <a:prstGeom prst="ellipse">
            <a:avLst/>
          </a:prstGeom>
          <a:solidFill>
            <a:srgbClr val="FFB502"/>
          </a:solidFill>
          <a:ln w="12700">
            <a:solidFill>
              <a:srgbClr val="000000"/>
            </a:solidFill>
          </a:ln>
          <a:effectLst/>
        </p:spPr>
        <p:txBody>
          <a:bodyPr rtlCol="0" anchor="ctr" lIns="0" rIns="0" tIns="0" bIns="0"/>
          <a:lstStyle/>
          <a:p>
            <a:pPr algn="ctr"/>
            <a:r>
              <a:rPr sz="1400" b="1">
                <a:solidFill>
                  <a:srgbClr val="000000"/>
                </a:solidFill>
                <a:latin typeface="Arial"/>
              </a:rPr>
              <a:t>2</a:t>
            </a:r>
          </a:p>
        </p:txBody>
      </p:sp>
      <p:sp>
        <p:nvSpPr>
          <p:cNvPr id="11" name="Oval 10"/>
          <p:cNvSpPr/>
          <p:nvPr/>
        </p:nvSpPr>
        <p:spPr>
          <a:xfrm>
            <a:off x="8460370" y="1362456"/>
            <a:ext cx="384048" cy="384048"/>
          </a:xfrm>
          <a:prstGeom prst="ellipse">
            <a:avLst/>
          </a:prstGeom>
          <a:solidFill>
            <a:srgbClr val="FFB502"/>
          </a:solidFill>
          <a:ln w="12700">
            <a:solidFill>
              <a:srgbClr val="000000"/>
            </a:solidFill>
          </a:ln>
          <a:effectLst/>
        </p:spPr>
        <p:txBody>
          <a:bodyPr rtlCol="0" anchor="ctr" lIns="0" rIns="0" tIns="0" bIns="0"/>
          <a:lstStyle/>
          <a:p>
            <a:pPr algn="ctr"/>
            <a:r>
              <a:rPr sz="1400" b="1">
                <a:solidFill>
                  <a:srgbClr val="000000"/>
                </a:solidFill>
                <a:latin typeface="Arial"/>
              </a:rPr>
              <a:t>3</a:t>
            </a:r>
          </a:p>
        </p:txBody>
      </p:sp>
      <p:sp>
        <p:nvSpPr>
          <p:cNvPr id="12" name="Oval 11"/>
          <p:cNvSpPr/>
          <p:nvPr/>
        </p:nvSpPr>
        <p:spPr>
          <a:xfrm>
            <a:off x="6869942" y="4855464"/>
            <a:ext cx="310896" cy="310896"/>
          </a:xfrm>
          <a:prstGeom prst="ellipse">
            <a:avLst/>
          </a:prstGeom>
          <a:solidFill>
            <a:srgbClr val="FFB502"/>
          </a:solidFill>
          <a:ln w="12700">
            <a:solidFill>
              <a:srgbClr val="000000"/>
            </a:solidFill>
          </a:ln>
          <a:effectLst/>
        </p:spPr>
        <p:txBody>
          <a:bodyPr rtlCol="0" anchor="ctr" lIns="0" rIns="0" tIns="0" bIns="0"/>
          <a:lstStyle/>
          <a:p>
            <a:pPr algn="ctr"/>
            <a:r>
              <a:rPr sz="1400" b="1">
                <a:solidFill>
                  <a:srgbClr val="000000"/>
                </a:solidFill>
                <a:latin typeface="Arial"/>
              </a:rPr>
              <a:t>1</a:t>
            </a:r>
          </a:p>
        </p:txBody>
      </p:sp>
      <p:sp>
        <p:nvSpPr>
          <p:cNvPr id="13" name="TextBox 12"/>
          <p:cNvSpPr txBox="1"/>
          <p:nvPr/>
        </p:nvSpPr>
        <p:spPr>
          <a:xfrm>
            <a:off x="7317998" y="4873752"/>
            <a:ext cx="4389120" cy="310896"/>
          </a:xfrm>
          <a:prstGeom prst="rect">
            <a:avLst/>
          </a:prstGeom>
          <a:noFill/>
        </p:spPr>
        <p:txBody>
          <a:bodyPr wrap="square" lIns="0" rIns="0" tIns="0" bIns="0" anchor="t">
            <a:spAutoFit/>
          </a:bodyPr>
          <a:lstStyle/>
          <a:p>
            <a:pPr algn="l">
              <a:lnSpc>
                <a:spcPct val="110000"/>
              </a:lnSpc>
            </a:pPr>
            <a:r>
              <a:rPr sz="1300" b="0">
                <a:solidFill>
                  <a:srgbClr val="000000"/>
                </a:solidFill>
                <a:latin typeface="Arial"/>
              </a:rPr>
              <a:t>The plan in one sentence</a:t>
            </a:r>
          </a:p>
        </p:txBody>
      </p:sp>
      <p:sp>
        <p:nvSpPr>
          <p:cNvPr id="14" name="Oval 13"/>
          <p:cNvSpPr/>
          <p:nvPr/>
        </p:nvSpPr>
        <p:spPr>
          <a:xfrm>
            <a:off x="6869942" y="5239512"/>
            <a:ext cx="310896" cy="310896"/>
          </a:xfrm>
          <a:prstGeom prst="ellipse">
            <a:avLst/>
          </a:prstGeom>
          <a:solidFill>
            <a:srgbClr val="FFB502"/>
          </a:solidFill>
          <a:ln w="12700">
            <a:solidFill>
              <a:srgbClr val="000000"/>
            </a:solidFill>
          </a:ln>
          <a:effectLst/>
        </p:spPr>
        <p:txBody>
          <a:bodyPr rtlCol="0" anchor="ctr" lIns="0" rIns="0" tIns="0" bIns="0"/>
          <a:lstStyle/>
          <a:p>
            <a:pPr algn="ctr"/>
            <a:r>
              <a:rPr sz="1400" b="1">
                <a:solidFill>
                  <a:srgbClr val="000000"/>
                </a:solidFill>
                <a:latin typeface="Arial"/>
              </a:rPr>
              <a:t>2</a:t>
            </a:r>
          </a:p>
        </p:txBody>
      </p:sp>
      <p:sp>
        <p:nvSpPr>
          <p:cNvPr id="15" name="TextBox 14"/>
          <p:cNvSpPr txBox="1"/>
          <p:nvPr/>
        </p:nvSpPr>
        <p:spPr>
          <a:xfrm>
            <a:off x="7317998" y="5257800"/>
            <a:ext cx="4389120" cy="310896"/>
          </a:xfrm>
          <a:prstGeom prst="rect">
            <a:avLst/>
          </a:prstGeom>
          <a:noFill/>
        </p:spPr>
        <p:txBody>
          <a:bodyPr wrap="square" lIns="0" rIns="0" tIns="0" bIns="0" anchor="t">
            <a:spAutoFit/>
          </a:bodyPr>
          <a:lstStyle/>
          <a:p>
            <a:pPr algn="l">
              <a:lnSpc>
                <a:spcPct val="110000"/>
              </a:lnSpc>
            </a:pPr>
            <a:r>
              <a:rPr sz="1300" b="0">
                <a:solidFill>
                  <a:srgbClr val="000000"/>
                </a:solidFill>
                <a:latin typeface="Arial"/>
              </a:rPr>
              <a:t>Where stock flows</a:t>
            </a:r>
          </a:p>
        </p:txBody>
      </p:sp>
      <p:sp>
        <p:nvSpPr>
          <p:cNvPr id="16" name="Oval 15"/>
          <p:cNvSpPr/>
          <p:nvPr/>
        </p:nvSpPr>
        <p:spPr>
          <a:xfrm>
            <a:off x="6869942" y="5623560"/>
            <a:ext cx="310896" cy="310896"/>
          </a:xfrm>
          <a:prstGeom prst="ellipse">
            <a:avLst/>
          </a:prstGeom>
          <a:solidFill>
            <a:srgbClr val="FFB502"/>
          </a:solidFill>
          <a:ln w="12700">
            <a:solidFill>
              <a:srgbClr val="000000"/>
            </a:solidFill>
          </a:ln>
          <a:effectLst/>
        </p:spPr>
        <p:txBody>
          <a:bodyPr rtlCol="0" anchor="ctr" lIns="0" rIns="0" tIns="0" bIns="0"/>
          <a:lstStyle/>
          <a:p>
            <a:pPr algn="ctr"/>
            <a:r>
              <a:rPr sz="1400" b="1">
                <a:solidFill>
                  <a:srgbClr val="000000"/>
                </a:solidFill>
                <a:latin typeface="Arial"/>
              </a:rPr>
              <a:t>3</a:t>
            </a:r>
          </a:p>
        </p:txBody>
      </p:sp>
      <p:sp>
        <p:nvSpPr>
          <p:cNvPr id="17" name="TextBox 16"/>
          <p:cNvSpPr txBox="1"/>
          <p:nvPr/>
        </p:nvSpPr>
        <p:spPr>
          <a:xfrm>
            <a:off x="7317998" y="5641848"/>
            <a:ext cx="4389120" cy="310896"/>
          </a:xfrm>
          <a:prstGeom prst="rect">
            <a:avLst/>
          </a:prstGeom>
          <a:noFill/>
        </p:spPr>
        <p:txBody>
          <a:bodyPr wrap="square" lIns="0" rIns="0" tIns="0" bIns="0" anchor="t">
            <a:spAutoFit/>
          </a:bodyPr>
          <a:lstStyle/>
          <a:p>
            <a:pPr algn="l">
              <a:lnSpc>
                <a:spcPct val="110000"/>
              </a:lnSpc>
            </a:pPr>
            <a:r>
              <a:rPr sz="1300" b="0">
                <a:solidFill>
                  <a:srgbClr val="000000"/>
                </a:solidFill>
                <a:latin typeface="Arial"/>
              </a:rPr>
              <a:t>Approve or reject; logged</a:t>
            </a:r>
          </a:p>
        </p:txBody>
      </p:sp>
      <p:sp>
        <p:nvSpPr>
          <p:cNvPr id="18" name="TextBox 17"/>
          <p:cNvSpPr txBox="1"/>
          <p:nvPr/>
        </p:nvSpPr>
        <p:spPr>
          <a:xfrm>
            <a:off x="960120" y="6016752"/>
            <a:ext cx="5394960" cy="274320"/>
          </a:xfrm>
          <a:prstGeom prst="rect">
            <a:avLst/>
          </a:prstGeom>
          <a:noFill/>
        </p:spPr>
        <p:txBody>
          <a:bodyPr wrap="square" lIns="0" rIns="0" tIns="0" bIns="0" anchor="t">
            <a:spAutoFit/>
          </a:bodyPr>
          <a:lstStyle/>
          <a:p>
            <a:pPr algn="l">
              <a:lnSpc>
                <a:spcPct val="110000"/>
              </a:lnSpc>
            </a:pPr>
            <a:r>
              <a:rPr sz="1100" b="0">
                <a:solidFill>
                  <a:srgbClr val="6E6E6E"/>
                </a:solidFill>
                <a:latin typeface="Arial"/>
              </a:rPr>
              <a:t>Live demo (view-only): stockflow-six-mu.vercel.app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822960" cy="82296"/>
          </a:xfrm>
          <a:prstGeom prst="rect">
            <a:avLst/>
          </a:prstGeom>
          <a:solidFill>
            <a:srgbClr val="FFB502"/>
          </a:solidFill>
          <a:ln>
            <a:noFill/>
          </a:ln>
          <a:effectLst/>
        </p:spPr>
        <p:txBody>
          <a:bodyPr rtlCol="0" anchor="ctr"/>
          <a:lstStyle/>
          <a:p>
            <a:pPr algn="ctr"/>
          </a:p>
        </p:txBody>
      </p:sp>
      <p:sp>
        <p:nvSpPr>
          <p:cNvPr id="3" name="TextBox 2"/>
          <p:cNvSpPr txBox="1"/>
          <p:nvPr/>
        </p:nvSpPr>
        <p:spPr>
          <a:xfrm>
            <a:off x="548640" y="566928"/>
            <a:ext cx="11094415" cy="914400"/>
          </a:xfrm>
          <a:prstGeom prst="rect">
            <a:avLst/>
          </a:prstGeom>
          <a:noFill/>
        </p:spPr>
        <p:txBody>
          <a:bodyPr wrap="square" lIns="0" rIns="0" tIns="0" bIns="0" anchor="t">
            <a:spAutoFit/>
          </a:bodyPr>
          <a:lstStyle/>
          <a:p>
            <a:pPr algn="l">
              <a:lnSpc>
                <a:spcPct val="100000"/>
              </a:lnSpc>
            </a:pPr>
            <a:r>
              <a:rPr sz="2600" b="1">
                <a:solidFill>
                  <a:srgbClr val="000000"/>
                </a:solidFill>
                <a:latin typeface="Arial"/>
              </a:rPr>
              <a:t>Next: a 12-week pilot at 2–3 branches on real ERP and warehouse data</a:t>
            </a:r>
          </a:p>
        </p:txBody>
      </p:sp>
      <p:sp>
        <p:nvSpPr>
          <p:cNvPr id="4" name="Rectangle 3"/>
          <p:cNvSpPr/>
          <p:nvPr/>
        </p:nvSpPr>
        <p:spPr>
          <a:xfrm>
            <a:off x="548640" y="6291072"/>
            <a:ext cx="11094415" cy="9525"/>
          </a:xfrm>
          <a:prstGeom prst="rect">
            <a:avLst/>
          </a:prstGeom>
          <a:solidFill>
            <a:srgbClr val="D9D9D9"/>
          </a:solidFill>
          <a:ln>
            <a:noFill/>
          </a:ln>
          <a:effectLst/>
        </p:spPr>
        <p:txBody>
          <a:bodyPr rtlCol="0" anchor="ctr"/>
          <a:lstStyle/>
          <a:p>
            <a:pPr algn="ct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0000"/>
              </a:lnSpc>
            </a:pPr>
            <a:r>
              <a:rPr sz="1000" b="0">
                <a:solidFill>
                  <a:srgbClr val="6E6E6E"/>
                </a:solidFill>
                <a:latin typeface="Arial"/>
              </a:rPr>
              <a:t>Synthetic data – for demonstration</a:t>
            </a:r>
          </a:p>
        </p:txBody>
      </p:sp>
      <p:sp>
        <p:nvSpPr>
          <p:cNvPr id="6" name="TextBox 5"/>
          <p:cNvSpPr txBox="1"/>
          <p:nvPr/>
        </p:nvSpPr>
        <p:spPr>
          <a:xfrm>
            <a:off x="10728655" y="6400800"/>
            <a:ext cx="914400" cy="274320"/>
          </a:xfrm>
          <a:prstGeom prst="rect">
            <a:avLst/>
          </a:prstGeom>
          <a:noFill/>
        </p:spPr>
        <p:txBody>
          <a:bodyPr wrap="square" lIns="0" rIns="0" tIns="0" bIns="0" anchor="t">
            <a:spAutoFit/>
          </a:bodyPr>
          <a:lstStyle/>
          <a:p>
            <a:pPr algn="r">
              <a:lnSpc>
                <a:spcPct val="110000"/>
              </a:lnSpc>
            </a:pPr>
            <a:r>
              <a:rPr sz="1000" b="0">
                <a:solidFill>
                  <a:srgbClr val="6E6E6E"/>
                </a:solidFill>
                <a:latin typeface="Arial"/>
              </a:rPr>
              <a:t>8</a:t>
            </a:r>
          </a:p>
        </p:txBody>
      </p:sp>
      <p:sp>
        <p:nvSpPr>
          <p:cNvPr id="7" name="Rectangle 6"/>
          <p:cNvSpPr/>
          <p:nvPr/>
        </p:nvSpPr>
        <p:spPr>
          <a:xfrm>
            <a:off x="548640" y="1691640"/>
            <a:ext cx="3423818" cy="82296"/>
          </a:xfrm>
          <a:prstGeom prst="rect">
            <a:avLst/>
          </a:prstGeom>
          <a:solidFill>
            <a:srgbClr val="333333"/>
          </a:solidFill>
          <a:ln>
            <a:noFill/>
          </a:ln>
          <a:effectLst/>
        </p:spPr>
        <p:txBody>
          <a:bodyPr rtlCol="0" anchor="ctr"/>
          <a:lstStyle/>
          <a:p>
            <a:pPr algn="ctr"/>
          </a:p>
        </p:txBody>
      </p:sp>
      <p:sp>
        <p:nvSpPr>
          <p:cNvPr id="8" name="TextBox 7"/>
          <p:cNvSpPr txBox="1"/>
          <p:nvPr/>
        </p:nvSpPr>
        <p:spPr>
          <a:xfrm>
            <a:off x="548640" y="1892808"/>
            <a:ext cx="3423818" cy="320040"/>
          </a:xfrm>
          <a:prstGeom prst="rect">
            <a:avLst/>
          </a:prstGeom>
          <a:noFill/>
        </p:spPr>
        <p:txBody>
          <a:bodyPr wrap="square" lIns="0" rIns="0" tIns="0" bIns="0" anchor="t">
            <a:spAutoFit/>
          </a:bodyPr>
          <a:lstStyle/>
          <a:p>
            <a:pPr algn="l">
              <a:lnSpc>
                <a:spcPct val="110000"/>
              </a:lnSpc>
            </a:pPr>
            <a:r>
              <a:rPr sz="1200" b="1">
                <a:solidFill>
                  <a:srgbClr val="6E6E6E"/>
                </a:solidFill>
                <a:latin typeface="Arial"/>
              </a:rPr>
              <a:t>Weeks 1–4</a:t>
            </a:r>
          </a:p>
        </p:txBody>
      </p:sp>
      <p:sp>
        <p:nvSpPr>
          <p:cNvPr id="9" name="TextBox 8"/>
          <p:cNvSpPr txBox="1"/>
          <p:nvPr/>
        </p:nvSpPr>
        <p:spPr>
          <a:xfrm>
            <a:off x="548640" y="2194560"/>
            <a:ext cx="3423818" cy="457200"/>
          </a:xfrm>
          <a:prstGeom prst="rect">
            <a:avLst/>
          </a:prstGeom>
          <a:noFill/>
        </p:spPr>
        <p:txBody>
          <a:bodyPr wrap="square" lIns="0" rIns="0" tIns="0" bIns="0" anchor="t">
            <a:spAutoFit/>
          </a:bodyPr>
          <a:lstStyle/>
          <a:p>
            <a:pPr algn="l">
              <a:lnSpc>
                <a:spcPct val="110000"/>
              </a:lnSpc>
            </a:pPr>
            <a:r>
              <a:rPr sz="2000" b="1">
                <a:solidFill>
                  <a:srgbClr val="000000"/>
                </a:solidFill>
                <a:latin typeface="Arial"/>
              </a:rPr>
              <a:t>Connect data</a:t>
            </a:r>
          </a:p>
        </p:txBody>
      </p:sp>
      <p:sp>
        <p:nvSpPr>
          <p:cNvPr id="10" name="TextBox 9"/>
          <p:cNvSpPr txBox="1"/>
          <p:nvPr/>
        </p:nvSpPr>
        <p:spPr>
          <a:xfrm>
            <a:off x="548640" y="2651760"/>
            <a:ext cx="3423818" cy="731520"/>
          </a:xfrm>
          <a:prstGeom prst="rect">
            <a:avLst/>
          </a:prstGeom>
          <a:noFill/>
        </p:spPr>
        <p:txBody>
          <a:bodyPr wrap="square" lIns="0" rIns="0" tIns="0" bIns="0" anchor="t">
            <a:spAutoFit/>
          </a:bodyPr>
          <a:lstStyle/>
          <a:p>
            <a:pPr algn="l">
              <a:lnSpc>
                <a:spcPct val="110000"/>
              </a:lnSpc>
            </a:pPr>
            <a:r>
              <a:rPr sz="1300" b="0">
                <a:solidFill>
                  <a:srgbClr val="333333"/>
                </a:solidFill>
                <a:latin typeface="Arial"/>
              </a:rPr>
              <a:t>7 standard extracts,</a:t>
            </a:r>
          </a:p>
          <a:p>
            <a:pPr algn="l">
              <a:lnSpc>
                <a:spcPct val="110000"/>
              </a:lnSpc>
            </a:pPr>
            <a:r>
              <a:rPr sz="1300" b="0">
                <a:solidFill>
                  <a:srgbClr val="333333"/>
                </a:solidFill>
                <a:latin typeface="Arial"/>
              </a:rPr>
              <a:t>validated on load</a:t>
            </a:r>
          </a:p>
        </p:txBody>
      </p:sp>
      <p:cxnSp>
        <p:nvCxnSpPr>
          <p:cNvPr id="11" name="Connector 10"/>
          <p:cNvCxnSpPr/>
          <p:nvPr/>
        </p:nvCxnSpPr>
        <p:spPr>
          <a:xfrm>
            <a:off x="4045610" y="1732788"/>
            <a:ext cx="265176" cy="0"/>
          </a:xfrm>
          <a:prstGeom prst="line">
            <a:avLst/>
          </a:prstGeom>
          <a:ln w="19050">
            <a:solidFill>
              <a:srgbClr val="333333"/>
            </a:solidFill>
            <a:tailEnd type="triangle" w="med" len="med"/>
          </a:ln>
        </p:spPr>
      </p:cxnSp>
      <p:sp>
        <p:nvSpPr>
          <p:cNvPr id="12" name="Rectangle 11"/>
          <p:cNvSpPr/>
          <p:nvPr/>
        </p:nvSpPr>
        <p:spPr>
          <a:xfrm>
            <a:off x="4383938" y="1691640"/>
            <a:ext cx="3423818" cy="82296"/>
          </a:xfrm>
          <a:prstGeom prst="rect">
            <a:avLst/>
          </a:prstGeom>
          <a:solidFill>
            <a:srgbClr val="FFB502"/>
          </a:solidFill>
          <a:ln>
            <a:noFill/>
          </a:ln>
          <a:effectLst/>
        </p:spPr>
        <p:txBody>
          <a:bodyPr rtlCol="0" anchor="ctr"/>
          <a:lstStyle/>
          <a:p>
            <a:pPr algn="ctr"/>
          </a:p>
        </p:txBody>
      </p:sp>
      <p:sp>
        <p:nvSpPr>
          <p:cNvPr id="13" name="TextBox 12"/>
          <p:cNvSpPr txBox="1"/>
          <p:nvPr/>
        </p:nvSpPr>
        <p:spPr>
          <a:xfrm>
            <a:off x="4383938" y="1892808"/>
            <a:ext cx="3423818" cy="320040"/>
          </a:xfrm>
          <a:prstGeom prst="rect">
            <a:avLst/>
          </a:prstGeom>
          <a:noFill/>
        </p:spPr>
        <p:txBody>
          <a:bodyPr wrap="square" lIns="0" rIns="0" tIns="0" bIns="0" anchor="t">
            <a:spAutoFit/>
          </a:bodyPr>
          <a:lstStyle/>
          <a:p>
            <a:pPr algn="l">
              <a:lnSpc>
                <a:spcPct val="110000"/>
              </a:lnSpc>
            </a:pPr>
            <a:r>
              <a:rPr sz="1200" b="1">
                <a:solidFill>
                  <a:srgbClr val="6E6E6E"/>
                </a:solidFill>
                <a:latin typeface="Arial"/>
              </a:rPr>
              <a:t>Weeks 5–10</a:t>
            </a:r>
          </a:p>
        </p:txBody>
      </p:sp>
      <p:sp>
        <p:nvSpPr>
          <p:cNvPr id="14" name="TextBox 13"/>
          <p:cNvSpPr txBox="1"/>
          <p:nvPr/>
        </p:nvSpPr>
        <p:spPr>
          <a:xfrm>
            <a:off x="4383938" y="2194560"/>
            <a:ext cx="3423818" cy="457200"/>
          </a:xfrm>
          <a:prstGeom prst="rect">
            <a:avLst/>
          </a:prstGeom>
          <a:noFill/>
        </p:spPr>
        <p:txBody>
          <a:bodyPr wrap="square" lIns="0" rIns="0" tIns="0" bIns="0" anchor="t">
            <a:spAutoFit/>
          </a:bodyPr>
          <a:lstStyle/>
          <a:p>
            <a:pPr algn="l">
              <a:lnSpc>
                <a:spcPct val="110000"/>
              </a:lnSpc>
            </a:pPr>
            <a:r>
              <a:rPr sz="2000" b="1">
                <a:solidFill>
                  <a:srgbClr val="000000"/>
                </a:solidFill>
                <a:latin typeface="Arial"/>
              </a:rPr>
              <a:t>Shadow pilot</a:t>
            </a:r>
          </a:p>
        </p:txBody>
      </p:sp>
      <p:sp>
        <p:nvSpPr>
          <p:cNvPr id="15" name="TextBox 14"/>
          <p:cNvSpPr txBox="1"/>
          <p:nvPr/>
        </p:nvSpPr>
        <p:spPr>
          <a:xfrm>
            <a:off x="4383938" y="2651760"/>
            <a:ext cx="3423818" cy="731520"/>
          </a:xfrm>
          <a:prstGeom prst="rect">
            <a:avLst/>
          </a:prstGeom>
          <a:noFill/>
        </p:spPr>
        <p:txBody>
          <a:bodyPr wrap="square" lIns="0" rIns="0" tIns="0" bIns="0" anchor="t">
            <a:spAutoFit/>
          </a:bodyPr>
          <a:lstStyle/>
          <a:p>
            <a:pPr algn="l">
              <a:lnSpc>
                <a:spcPct val="110000"/>
              </a:lnSpc>
            </a:pPr>
            <a:r>
              <a:rPr sz="1300" b="0">
                <a:solidFill>
                  <a:srgbClr val="333333"/>
                </a:solidFill>
                <a:latin typeface="Arial"/>
              </a:rPr>
              <a:t>2–3 branches; planners</a:t>
            </a:r>
          </a:p>
          <a:p>
            <a:pPr algn="l">
              <a:lnSpc>
                <a:spcPct val="110000"/>
              </a:lnSpc>
            </a:pPr>
            <a:r>
              <a:rPr sz="1300" b="0">
                <a:solidFill>
                  <a:srgbClr val="333333"/>
                </a:solidFill>
                <a:latin typeface="Arial"/>
              </a:rPr>
              <a:t>approve or reject</a:t>
            </a:r>
          </a:p>
        </p:txBody>
      </p:sp>
      <p:cxnSp>
        <p:nvCxnSpPr>
          <p:cNvPr id="16" name="Connector 15"/>
          <p:cNvCxnSpPr/>
          <p:nvPr/>
        </p:nvCxnSpPr>
        <p:spPr>
          <a:xfrm>
            <a:off x="7880908" y="1732788"/>
            <a:ext cx="265176" cy="0"/>
          </a:xfrm>
          <a:prstGeom prst="line">
            <a:avLst/>
          </a:prstGeom>
          <a:ln w="19050">
            <a:solidFill>
              <a:srgbClr val="333333"/>
            </a:solidFill>
            <a:tailEnd type="triangle" w="med" len="med"/>
          </a:ln>
        </p:spPr>
      </p:cxnSp>
      <p:sp>
        <p:nvSpPr>
          <p:cNvPr id="17" name="Rectangle 16"/>
          <p:cNvSpPr/>
          <p:nvPr/>
        </p:nvSpPr>
        <p:spPr>
          <a:xfrm>
            <a:off x="8219236" y="1691640"/>
            <a:ext cx="3423818" cy="82296"/>
          </a:xfrm>
          <a:prstGeom prst="rect">
            <a:avLst/>
          </a:prstGeom>
          <a:solidFill>
            <a:srgbClr val="333333"/>
          </a:solidFill>
          <a:ln>
            <a:noFill/>
          </a:ln>
          <a:effectLst/>
        </p:spPr>
        <p:txBody>
          <a:bodyPr rtlCol="0" anchor="ctr"/>
          <a:lstStyle/>
          <a:p>
            <a:pPr algn="ctr"/>
          </a:p>
        </p:txBody>
      </p:sp>
      <p:sp>
        <p:nvSpPr>
          <p:cNvPr id="18" name="TextBox 17"/>
          <p:cNvSpPr txBox="1"/>
          <p:nvPr/>
        </p:nvSpPr>
        <p:spPr>
          <a:xfrm>
            <a:off x="8219236" y="1892808"/>
            <a:ext cx="3423818" cy="320040"/>
          </a:xfrm>
          <a:prstGeom prst="rect">
            <a:avLst/>
          </a:prstGeom>
          <a:noFill/>
        </p:spPr>
        <p:txBody>
          <a:bodyPr wrap="square" lIns="0" rIns="0" tIns="0" bIns="0" anchor="t">
            <a:spAutoFit/>
          </a:bodyPr>
          <a:lstStyle/>
          <a:p>
            <a:pPr algn="l">
              <a:lnSpc>
                <a:spcPct val="110000"/>
              </a:lnSpc>
            </a:pPr>
            <a:r>
              <a:rPr sz="1200" b="1">
                <a:solidFill>
                  <a:srgbClr val="6E6E6E"/>
                </a:solidFill>
                <a:latin typeface="Arial"/>
              </a:rPr>
              <a:t>Weeks 11–12</a:t>
            </a:r>
          </a:p>
        </p:txBody>
      </p:sp>
      <p:sp>
        <p:nvSpPr>
          <p:cNvPr id="19" name="TextBox 18"/>
          <p:cNvSpPr txBox="1"/>
          <p:nvPr/>
        </p:nvSpPr>
        <p:spPr>
          <a:xfrm>
            <a:off x="8219236" y="2194560"/>
            <a:ext cx="3423818" cy="457200"/>
          </a:xfrm>
          <a:prstGeom prst="rect">
            <a:avLst/>
          </a:prstGeom>
          <a:noFill/>
        </p:spPr>
        <p:txBody>
          <a:bodyPr wrap="square" lIns="0" rIns="0" tIns="0" bIns="0" anchor="t">
            <a:spAutoFit/>
          </a:bodyPr>
          <a:lstStyle/>
          <a:p>
            <a:pPr algn="l">
              <a:lnSpc>
                <a:spcPct val="110000"/>
              </a:lnSpc>
            </a:pPr>
            <a:r>
              <a:rPr sz="2000" b="1">
                <a:solidFill>
                  <a:srgbClr val="000000"/>
                </a:solidFill>
                <a:latin typeface="Arial"/>
              </a:rPr>
              <a:t>Decide</a:t>
            </a:r>
          </a:p>
        </p:txBody>
      </p:sp>
      <p:sp>
        <p:nvSpPr>
          <p:cNvPr id="20" name="TextBox 19"/>
          <p:cNvSpPr txBox="1"/>
          <p:nvPr/>
        </p:nvSpPr>
        <p:spPr>
          <a:xfrm>
            <a:off x="8219236" y="2651760"/>
            <a:ext cx="3423818" cy="731520"/>
          </a:xfrm>
          <a:prstGeom prst="rect">
            <a:avLst/>
          </a:prstGeom>
          <a:noFill/>
        </p:spPr>
        <p:txBody>
          <a:bodyPr wrap="square" lIns="0" rIns="0" tIns="0" bIns="0" anchor="t">
            <a:spAutoFit/>
          </a:bodyPr>
          <a:lstStyle/>
          <a:p>
            <a:pPr algn="l">
              <a:lnSpc>
                <a:spcPct val="110000"/>
              </a:lnSpc>
            </a:pPr>
            <a:r>
              <a:rPr sz="1300" b="0">
                <a:solidFill>
                  <a:srgbClr val="333333"/>
                </a:solidFill>
                <a:latin typeface="Arial"/>
              </a:rPr>
              <a:t>Monitor error and bias;</a:t>
            </a:r>
          </a:p>
          <a:p>
            <a:pPr algn="l">
              <a:lnSpc>
                <a:spcPct val="110000"/>
              </a:lnSpc>
            </a:pPr>
            <a:r>
              <a:rPr sz="1300" b="0">
                <a:solidFill>
                  <a:srgbClr val="333333"/>
                </a:solidFill>
                <a:latin typeface="Arial"/>
              </a:rPr>
              <a:t>retrain on drift</a:t>
            </a:r>
          </a:p>
        </p:txBody>
      </p:sp>
      <p:sp>
        <p:nvSpPr>
          <p:cNvPr id="21" name="Rectangle 20"/>
          <p:cNvSpPr/>
          <p:nvPr/>
        </p:nvSpPr>
        <p:spPr>
          <a:xfrm>
            <a:off x="548640" y="3886200"/>
            <a:ext cx="11094415" cy="9525"/>
          </a:xfrm>
          <a:prstGeom prst="rect">
            <a:avLst/>
          </a:prstGeom>
          <a:solidFill>
            <a:srgbClr val="D9D9D9"/>
          </a:solidFill>
          <a:ln>
            <a:noFill/>
          </a:ln>
          <a:effectLst/>
        </p:spPr>
        <p:txBody>
          <a:bodyPr rtlCol="0" anchor="ctr"/>
          <a:lstStyle/>
          <a:p>
            <a:pPr algn="ctr"/>
          </a:p>
        </p:txBody>
      </p:sp>
      <p:sp>
        <p:nvSpPr>
          <p:cNvPr id="22" name="TextBox 21"/>
          <p:cNvSpPr txBox="1"/>
          <p:nvPr/>
        </p:nvSpPr>
        <p:spPr>
          <a:xfrm>
            <a:off x="548640" y="4069080"/>
            <a:ext cx="2743200" cy="320040"/>
          </a:xfrm>
          <a:prstGeom prst="rect">
            <a:avLst/>
          </a:prstGeom>
          <a:noFill/>
        </p:spPr>
        <p:txBody>
          <a:bodyPr wrap="square" lIns="0" rIns="0" tIns="0" bIns="0" anchor="t">
            <a:spAutoFit/>
          </a:bodyPr>
          <a:lstStyle/>
          <a:p>
            <a:pPr algn="l">
              <a:lnSpc>
                <a:spcPct val="110000"/>
              </a:lnSpc>
            </a:pPr>
            <a:r>
              <a:rPr sz="1400" b="1">
                <a:solidFill>
                  <a:srgbClr val="000000"/>
                </a:solidFill>
                <a:latin typeface="Arial"/>
              </a:rPr>
              <a:t>Limitations</a:t>
            </a:r>
          </a:p>
        </p:txBody>
      </p:sp>
      <p:sp>
        <p:nvSpPr>
          <p:cNvPr id="23" name="Rectangle 22"/>
          <p:cNvSpPr/>
          <p:nvPr/>
        </p:nvSpPr>
        <p:spPr>
          <a:xfrm>
            <a:off x="548640" y="4480560"/>
            <a:ext cx="2567863" cy="685800"/>
          </a:xfrm>
          <a:prstGeom prst="rect">
            <a:avLst/>
          </a:prstGeom>
          <a:solidFill>
            <a:srgbClr val="F2F2F2"/>
          </a:solidFill>
          <a:ln w="12700">
            <a:solidFill>
              <a:srgbClr val="D9D9D9"/>
            </a:solidFill>
          </a:ln>
          <a:effectLst/>
        </p:spPr>
        <p:txBody>
          <a:bodyPr rtlCol="0" anchor="ctr" lIns="54864" rIns="54864" wrap="square"/>
          <a:lstStyle/>
          <a:p>
            <a:pPr algn="ctr"/>
            <a:r>
              <a:rPr sz="1300" b="0">
                <a:solidFill>
                  <a:srgbClr val="000000"/>
                </a:solidFill>
                <a:latin typeface="Arial"/>
              </a:rPr>
              <a:t>Synthetic data so far</a:t>
            </a:r>
          </a:p>
        </p:txBody>
      </p:sp>
      <p:sp>
        <p:nvSpPr>
          <p:cNvPr id="24" name="Rectangle 23"/>
          <p:cNvSpPr/>
          <p:nvPr/>
        </p:nvSpPr>
        <p:spPr>
          <a:xfrm>
            <a:off x="3390823" y="4480560"/>
            <a:ext cx="2567863" cy="685800"/>
          </a:xfrm>
          <a:prstGeom prst="rect">
            <a:avLst/>
          </a:prstGeom>
          <a:solidFill>
            <a:srgbClr val="F2F2F2"/>
          </a:solidFill>
          <a:ln w="12700">
            <a:solidFill>
              <a:srgbClr val="D9D9D9"/>
            </a:solidFill>
          </a:ln>
          <a:effectLst/>
        </p:spPr>
        <p:txBody>
          <a:bodyPr rtlCol="0" anchor="ctr" lIns="54864" rIns="54864" wrap="square"/>
          <a:lstStyle/>
          <a:p>
            <a:pPr algn="ctr"/>
            <a:r>
              <a:rPr sz="1300" b="0">
                <a:solidFill>
                  <a:srgbClr val="000000"/>
                </a:solidFill>
                <a:latin typeface="Arial"/>
              </a:rPr>
              <a:t>Plans one replenishment cycle</a:t>
            </a:r>
          </a:p>
        </p:txBody>
      </p:sp>
      <p:sp>
        <p:nvSpPr>
          <p:cNvPr id="25" name="Rectangle 24"/>
          <p:cNvSpPr/>
          <p:nvPr/>
        </p:nvSpPr>
        <p:spPr>
          <a:xfrm>
            <a:off x="6233006" y="4480560"/>
            <a:ext cx="2567863" cy="685800"/>
          </a:xfrm>
          <a:prstGeom prst="rect">
            <a:avLst/>
          </a:prstGeom>
          <a:solidFill>
            <a:srgbClr val="F2F2F2"/>
          </a:solidFill>
          <a:ln w="12700">
            <a:solidFill>
              <a:srgbClr val="D9D9D9"/>
            </a:solidFill>
          </a:ln>
          <a:effectLst/>
        </p:spPr>
        <p:txBody>
          <a:bodyPr rtlCol="0" anchor="ctr" lIns="54864" rIns="54864" wrap="square"/>
          <a:lstStyle/>
          <a:p>
            <a:pPr algn="ctr"/>
            <a:r>
              <a:rPr sz="1300" b="0">
                <a:solidFill>
                  <a:srgbClr val="000000"/>
                </a:solidFill>
                <a:latin typeface="Arial"/>
              </a:rPr>
              <a:t>Normal error model for safety stock</a:t>
            </a:r>
          </a:p>
        </p:txBody>
      </p:sp>
      <p:sp>
        <p:nvSpPr>
          <p:cNvPr id="26" name="Rectangle 25"/>
          <p:cNvSpPr/>
          <p:nvPr/>
        </p:nvSpPr>
        <p:spPr>
          <a:xfrm>
            <a:off x="9075189" y="4480560"/>
            <a:ext cx="2567863" cy="685800"/>
          </a:xfrm>
          <a:prstGeom prst="rect">
            <a:avLst/>
          </a:prstGeom>
          <a:solidFill>
            <a:srgbClr val="F2F2F2"/>
          </a:solidFill>
          <a:ln w="12700">
            <a:solidFill>
              <a:srgbClr val="D9D9D9"/>
            </a:solidFill>
          </a:ln>
          <a:effectLst/>
        </p:spPr>
        <p:txBody>
          <a:bodyPr rtlCol="0" anchor="ctr" lIns="54864" rIns="54864" wrap="square"/>
          <a:lstStyle/>
          <a:p>
            <a:pPr algn="ctr"/>
            <a:r>
              <a:rPr sz="1300" b="0">
                <a:solidFill>
                  <a:srgbClr val="000000"/>
                </a:solidFill>
                <a:latin typeface="Arial"/>
              </a:rPr>
              <a:t>Costs need finance approval</a:t>
            </a:r>
          </a:p>
        </p:txBody>
      </p:sp>
      <p:sp>
        <p:nvSpPr>
          <p:cNvPr id="27" name="TextBox 26"/>
          <p:cNvSpPr txBox="1"/>
          <p:nvPr/>
        </p:nvSpPr>
        <p:spPr>
          <a:xfrm>
            <a:off x="548640" y="5486400"/>
            <a:ext cx="11094415" cy="548640"/>
          </a:xfrm>
          <a:prstGeom prst="rect">
            <a:avLst/>
          </a:prstGeom>
          <a:noFill/>
        </p:spPr>
        <p:txBody>
          <a:bodyPr wrap="square" lIns="0" rIns="0" tIns="0" bIns="0" anchor="t">
            <a:spAutoFit/>
          </a:bodyPr>
          <a:lstStyle/>
          <a:p>
            <a:pPr algn="ctr">
              <a:lnSpc>
                <a:spcPct val="110000"/>
              </a:lnSpc>
            </a:pPr>
            <a:r>
              <a:rPr sz="1600" b="1">
                <a:solidFill>
                  <a:srgbClr val="000000"/>
                </a:solidFill>
                <a:latin typeface="Arial"/>
              </a:rPr>
              <a:t>Right product, right branch: surgeons don't wait, so patients don't either.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